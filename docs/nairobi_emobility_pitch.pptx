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1479147"/>
            <a:ext cx="5029200" cy="253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spc="2" kern="0" dirty="0">
                <a:solidFill>
                  <a:srgbClr val="F77F00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BUILT IN NAIROBI, BUILT FOR THE WORLD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914400" y="1875625"/>
            <a:ext cx="5029200" cy="13201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350" b="1" dirty="0">
                <a:solidFill>
                  <a:srgbClr val="0B2545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[SOLUTION NAME]</a:t>
            </a:r>
            <a:endParaRPr lang="en-US" sz="4350" dirty="0"/>
          </a:p>
        </p:txBody>
      </p:sp>
      <p:sp>
        <p:nvSpPr>
          <p:cNvPr id="5" name="Text 2"/>
          <p:cNvSpPr/>
          <p:nvPr/>
        </p:nvSpPr>
        <p:spPr>
          <a:xfrm>
            <a:off x="914400" y="3481518"/>
            <a:ext cx="4286250" cy="75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3315C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A replicable AI-driven model that leverages city data to accelerate urban e-mobility through intelligent infrastructure siting.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7" name="Shape 4"/>
          <p:cNvSpPr/>
          <p:nvPr/>
        </p:nvSpPr>
        <p:spPr>
          <a:xfrm>
            <a:off x="914400" y="4489847"/>
            <a:ext cx="1882378" cy="22502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914400" y="4489847"/>
            <a:ext cx="1882378" cy="7144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4489847"/>
            <a:ext cx="1882378" cy="225028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B2545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HACKATHON SUBMISSION | AUG 2026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571500"/>
            <a:ext cx="7315200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77F00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02 | THE PROBLEM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914400" y="867966"/>
            <a:ext cx="6429375" cy="123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0B2545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Nairobi's transport sector is a major, growing emissions source.</a:t>
            </a:r>
            <a:endParaRPr lang="en-US" sz="24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530897"/>
            <a:ext cx="107156" cy="17859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64431" y="2530897"/>
            <a:ext cx="388190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3315C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E-mobility (buses, e-bikes, boda-bodas) is the fastest mitigation lever available today.</a:t>
            </a:r>
            <a:endParaRPr lang="en-US" sz="12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295278"/>
            <a:ext cx="107156" cy="17859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164431" y="3295278"/>
            <a:ext cx="388190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3315C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Infrastructure is currently sited by </a:t>
            </a:r>
            <a:r>
              <a:rPr lang="en-US" sz="1200" b="1" dirty="0">
                <a:solidFill>
                  <a:srgbClr val="13315C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commercial logic</a:t>
            </a:r>
            <a:r>
              <a:rPr lang="en-US" sz="1250" dirty="0">
                <a:solidFill>
                  <a:srgbClr val="13315C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, not transit need.</a:t>
            </a:r>
            <a:endParaRPr lang="en-US" sz="12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059659"/>
            <a:ext cx="142875" cy="178594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200150" y="4059659"/>
            <a:ext cx="3846184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3315C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Adoption stalls wherever access lags, creating a cycle of exclusion.</a:t>
            </a:r>
            <a:endParaRPr lang="en-US" sz="1250" dirty="0"/>
          </a:p>
        </p:txBody>
      </p:sp>
      <p:sp>
        <p:nvSpPr>
          <p:cNvPr id="11" name="Shape 5"/>
          <p:cNvSpPr/>
          <p:nvPr/>
        </p:nvSpPr>
        <p:spPr>
          <a:xfrm>
            <a:off x="5474959" y="2530897"/>
            <a:ext cx="2754641" cy="2293144"/>
          </a:xfrm>
          <a:prstGeom prst="rect">
            <a:avLst/>
          </a:prstGeom>
          <a:solidFill>
            <a:srgbClr val="0B2545">
              <a:alpha val="3000"/>
            </a:srgbClr>
          </a:solidFill>
          <a:ln w="9144">
            <a:solidFill>
              <a:srgbClr val="0B2545"/>
            </a:solidFill>
            <a:prstDash val="dash"/>
          </a:ln>
        </p:spPr>
      </p:sp>
      <p:sp>
        <p:nvSpPr>
          <p:cNvPr id="12" name="Text 6"/>
          <p:cNvSpPr/>
          <p:nvPr/>
        </p:nvSpPr>
        <p:spPr>
          <a:xfrm>
            <a:off x="5760709" y="2982739"/>
            <a:ext cx="2183141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spc="1" kern="0" dirty="0">
                <a:solidFill>
                  <a:srgbClr val="13315C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TRANSPORT SECTOR CONTRIBUTION</a:t>
            </a:r>
            <a:endParaRPr lang="en-US" sz="950" dirty="0"/>
          </a:p>
        </p:txBody>
      </p:sp>
      <p:sp>
        <p:nvSpPr>
          <p:cNvPr id="13" name="Text 7"/>
          <p:cNvSpPr/>
          <p:nvPr/>
        </p:nvSpPr>
        <p:spPr>
          <a:xfrm>
            <a:off x="5760709" y="3311351"/>
            <a:ext cx="2183141" cy="675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3500" dirty="0">
                <a:solidFill>
                  <a:srgbClr val="0B2545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MAJOR</a:t>
            </a:r>
            <a:endParaRPr lang="en-US" sz="3500" dirty="0"/>
          </a:p>
        </p:txBody>
      </p:sp>
      <p:sp>
        <p:nvSpPr>
          <p:cNvPr id="14" name="Text 8"/>
          <p:cNvSpPr/>
          <p:nvPr/>
        </p:nvSpPr>
        <p:spPr>
          <a:xfrm>
            <a:off x="5760709" y="4057873"/>
            <a:ext cx="2183141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spc="1" kern="0" dirty="0">
                <a:solidFill>
                  <a:srgbClr val="13315C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EMISSIONS SOURCE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2900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571500"/>
            <a:ext cx="7315200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77F00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03 | OUR SOLUTION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914400" y="867966"/>
            <a:ext cx="7315200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0B2545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An AI-driven, replicable e-mobility siting model.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914400" y="2048024"/>
            <a:ext cx="5715000" cy="891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13315C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We score every part of Nairobi for charging need using real </a:t>
            </a:r>
            <a:r>
              <a:rPr lang="en-US" sz="1400" dirty="0">
                <a:solidFill>
                  <a:srgbClr val="13315C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population + transit data, recommending phased sites per the </a:t>
            </a:r>
            <a:r>
              <a:rPr lang="en-US" sz="1300" b="1" dirty="0">
                <a:solidFill>
                  <a:srgbClr val="13315C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Avoid-Shift-Improve</a:t>
            </a:r>
            <a:r>
              <a:rPr lang="en-US" sz="1400" dirty="0">
                <a:solidFill>
                  <a:srgbClr val="13315C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 framework.</a:t>
            </a: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856" y="3518074"/>
            <a:ext cx="1852575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35856" y="3889549"/>
            <a:ext cx="1852575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DATA-LED SITING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1135856" y="4207446"/>
            <a:ext cx="1852575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3315C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Leveraging real-world population and transit demand data to identify high-impact locations.</a:t>
            </a:r>
            <a:endParaRPr lang="en-US" sz="9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5657" y="3518074"/>
            <a:ext cx="1852631" cy="228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645657" y="3889549"/>
            <a:ext cx="1852631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PHASED ROLLOUT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3645657" y="4207446"/>
            <a:ext cx="1852631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3315C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Strategic prioritization: Electrifying buses first, followed by e-bikes and boda-bodas.</a:t>
            </a:r>
            <a:endParaRPr lang="en-US" sz="9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5513" y="3518074"/>
            <a:ext cx="1852631" cy="2286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155513" y="3889549"/>
            <a:ext cx="1852631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GLOBAL REPLICABILITY</a:t>
            </a:r>
            <a:endParaRPr lang="en-US" sz="1000" dirty="0"/>
          </a:p>
        </p:txBody>
      </p:sp>
      <p:sp>
        <p:nvSpPr>
          <p:cNvPr id="14" name="Text 8"/>
          <p:cNvSpPr/>
          <p:nvPr/>
        </p:nvSpPr>
        <p:spPr>
          <a:xfrm>
            <a:off x="6155513" y="4207446"/>
            <a:ext cx="1852631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3315C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Built on open data pipelines that can be deployed in any rapidly urbanizing city.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571500"/>
            <a:ext cx="7315200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77F00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04 | METHODOLOGY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914400" y="867966"/>
            <a:ext cx="7315200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0B2545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A transparent pipeline from data to decisions.</a:t>
            </a:r>
            <a:endParaRPr lang="en-US" sz="2450" dirty="0"/>
          </a:p>
        </p:txBody>
      </p:sp>
      <p:sp>
        <p:nvSpPr>
          <p:cNvPr id="5" name="Shape 2"/>
          <p:cNvSpPr/>
          <p:nvPr/>
        </p:nvSpPr>
        <p:spPr>
          <a:xfrm>
            <a:off x="914400" y="2405211"/>
            <a:ext cx="1285875" cy="1571625"/>
          </a:xfrm>
          <a:prstGeom prst="rect">
            <a:avLst/>
          </a:prstGeom>
          <a:solidFill>
            <a:srgbClr val="FFFFFF"/>
          </a:solidFill>
          <a:ln w="9144">
            <a:solidFill>
              <a:srgbClr val="0B2545"/>
            </a:solidFill>
            <a:prstDash val="dash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328" y="2548086"/>
            <a:ext cx="150019" cy="23574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32284" y="2890986"/>
            <a:ext cx="85010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2545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OPEN CITY DATA</a:t>
            </a:r>
            <a:endParaRPr lang="en-US" sz="700" dirty="0"/>
          </a:p>
        </p:txBody>
      </p:sp>
      <p:sp>
        <p:nvSpPr>
          <p:cNvPr id="8" name="Text 4"/>
          <p:cNvSpPr/>
          <p:nvPr/>
        </p:nvSpPr>
        <p:spPr>
          <a:xfrm>
            <a:off x="1057275" y="3248174"/>
            <a:ext cx="1000125" cy="419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13315C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Roads, Population, and GTFS Transit feeds.</a:t>
            </a:r>
            <a:endParaRPr lang="en-US" sz="750" dirty="0"/>
          </a:p>
        </p:txBody>
      </p:sp>
      <p:sp>
        <p:nvSpPr>
          <p:cNvPr id="9" name="Shape 5"/>
          <p:cNvSpPr/>
          <p:nvPr/>
        </p:nvSpPr>
        <p:spPr>
          <a:xfrm>
            <a:off x="2421731" y="2405211"/>
            <a:ext cx="1285875" cy="1571625"/>
          </a:xfrm>
          <a:prstGeom prst="rect">
            <a:avLst/>
          </a:prstGeom>
          <a:solidFill>
            <a:srgbClr val="FFFFFF"/>
          </a:solidFill>
          <a:ln w="9144">
            <a:solidFill>
              <a:srgbClr val="0B2545"/>
            </a:solidFill>
            <a:prstDash val="dash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7158" y="2548086"/>
            <a:ext cx="175022" cy="23574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852142" y="2890986"/>
            <a:ext cx="42505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2545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H3 GRID</a:t>
            </a:r>
            <a:endParaRPr lang="en-US" sz="700" dirty="0"/>
          </a:p>
        </p:txBody>
      </p:sp>
      <p:sp>
        <p:nvSpPr>
          <p:cNvPr id="12" name="Text 7"/>
          <p:cNvSpPr/>
          <p:nvPr/>
        </p:nvSpPr>
        <p:spPr>
          <a:xfrm>
            <a:off x="2564606" y="3248174"/>
            <a:ext cx="1000125" cy="279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13315C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Spatial indexing into 865 H3 hexagons.</a:t>
            </a:r>
            <a:endParaRPr lang="en-US" sz="750" dirty="0"/>
          </a:p>
        </p:txBody>
      </p:sp>
      <p:sp>
        <p:nvSpPr>
          <p:cNvPr id="13" name="Shape 8"/>
          <p:cNvSpPr/>
          <p:nvPr/>
        </p:nvSpPr>
        <p:spPr>
          <a:xfrm>
            <a:off x="3929063" y="2405211"/>
            <a:ext cx="1285875" cy="1571625"/>
          </a:xfrm>
          <a:prstGeom prst="rect">
            <a:avLst/>
          </a:prstGeom>
          <a:solidFill>
            <a:srgbClr val="FFFFFF"/>
          </a:solidFill>
          <a:ln w="9144">
            <a:solidFill>
              <a:srgbClr val="0B2545"/>
            </a:solidFill>
            <a:prstDash val="dash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6991" y="2548086"/>
            <a:ext cx="150019" cy="23574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268391" y="2890986"/>
            <a:ext cx="60721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2545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NEED SCORE</a:t>
            </a:r>
            <a:endParaRPr lang="en-US" sz="700" dirty="0"/>
          </a:p>
        </p:txBody>
      </p:sp>
      <p:sp>
        <p:nvSpPr>
          <p:cNvPr id="16" name="Text 10"/>
          <p:cNvSpPr/>
          <p:nvPr/>
        </p:nvSpPr>
        <p:spPr>
          <a:xfrm>
            <a:off x="4071938" y="3248174"/>
            <a:ext cx="1000125" cy="279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13315C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Demand minus existing coverage.</a:t>
            </a:r>
            <a:endParaRPr lang="en-US" sz="750" dirty="0"/>
          </a:p>
        </p:txBody>
      </p:sp>
      <p:sp>
        <p:nvSpPr>
          <p:cNvPr id="17" name="Shape 11"/>
          <p:cNvSpPr/>
          <p:nvPr/>
        </p:nvSpPr>
        <p:spPr>
          <a:xfrm>
            <a:off x="5436394" y="2405211"/>
            <a:ext cx="1285875" cy="1571625"/>
          </a:xfrm>
          <a:prstGeom prst="rect">
            <a:avLst/>
          </a:prstGeom>
          <a:solidFill>
            <a:srgbClr val="FFFFFF"/>
          </a:solidFill>
          <a:ln w="9144">
            <a:solidFill>
              <a:srgbClr val="0B2545"/>
            </a:solidFill>
            <a:prstDash val="dash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9319" y="2548086"/>
            <a:ext cx="200025" cy="23574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654278" y="2890986"/>
            <a:ext cx="85010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2545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PHASED ROLLOUT</a:t>
            </a:r>
            <a:endParaRPr lang="en-US" sz="700" dirty="0"/>
          </a:p>
        </p:txBody>
      </p:sp>
      <p:sp>
        <p:nvSpPr>
          <p:cNvPr id="20" name="Text 13"/>
          <p:cNvSpPr/>
          <p:nvPr/>
        </p:nvSpPr>
        <p:spPr>
          <a:xfrm>
            <a:off x="5579269" y="3248174"/>
            <a:ext cx="1000125" cy="279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13315C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Growth-adjusted urgency ranking.</a:t>
            </a:r>
            <a:endParaRPr lang="en-US" sz="750" dirty="0"/>
          </a:p>
        </p:txBody>
      </p:sp>
      <p:sp>
        <p:nvSpPr>
          <p:cNvPr id="21" name="Shape 14"/>
          <p:cNvSpPr/>
          <p:nvPr/>
        </p:nvSpPr>
        <p:spPr>
          <a:xfrm>
            <a:off x="6943725" y="2405211"/>
            <a:ext cx="1285875" cy="1571625"/>
          </a:xfrm>
          <a:prstGeom prst="rect">
            <a:avLst/>
          </a:prstGeom>
          <a:solidFill>
            <a:srgbClr val="FFFFFF"/>
          </a:solidFill>
          <a:ln w="9144">
            <a:solidFill>
              <a:srgbClr val="0B2545"/>
            </a:solidFill>
            <a:prstDash val="dash"/>
          </a:ln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1647" y="2548086"/>
            <a:ext cx="250031" cy="235744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222331" y="2890986"/>
            <a:ext cx="72866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2545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AI RATIONALE</a:t>
            </a:r>
            <a:endParaRPr lang="en-US" sz="700" dirty="0"/>
          </a:p>
        </p:txBody>
      </p:sp>
      <p:sp>
        <p:nvSpPr>
          <p:cNvPr id="24" name="Text 16"/>
          <p:cNvSpPr/>
          <p:nvPr/>
        </p:nvSpPr>
        <p:spPr>
          <a:xfrm>
            <a:off x="7086600" y="3248174"/>
            <a:ext cx="1000125" cy="279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13315C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Live generated site explanations.</a:t>
            </a:r>
            <a:endParaRPr lang="en-US" sz="750" dirty="0"/>
          </a:p>
        </p:txBody>
      </p:sp>
      <p:sp>
        <p:nvSpPr>
          <p:cNvPr id="25" name="Shape 17"/>
          <p:cNvSpPr/>
          <p:nvPr/>
        </p:nvSpPr>
        <p:spPr>
          <a:xfrm>
            <a:off x="914400" y="4405461"/>
            <a:ext cx="5715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6" name="Shape 18"/>
          <p:cNvSpPr/>
          <p:nvPr/>
        </p:nvSpPr>
        <p:spPr>
          <a:xfrm>
            <a:off x="914400" y="4405461"/>
            <a:ext cx="28575" cy="514350"/>
          </a:xfrm>
          <a:prstGeom prst="rect">
            <a:avLst/>
          </a:prstGeom>
          <a:solidFill>
            <a:srgbClr val="F77F00"/>
          </a:solidFill>
          <a:ln/>
        </p:spPr>
      </p:sp>
      <p:sp>
        <p:nvSpPr>
          <p:cNvPr id="27" name="Text 19"/>
          <p:cNvSpPr/>
          <p:nvPr/>
        </p:nvSpPr>
        <p:spPr>
          <a:xfrm>
            <a:off x="914400" y="4405461"/>
            <a:ext cx="5715000" cy="51435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B2545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Roads + Population + Transit data → 865 H3 hexagons → Need score (population + peak transit demand − existing coverage) → Growth-adjusted phased rollout → Live AI-generated rationale per site.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571500"/>
            <a:ext cx="7315200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77F00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05 | THE AI, MADE VISIBLE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914400" y="867966"/>
            <a:ext cx="7315200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0B2545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Transparent intelligence—not a black box.</a:t>
            </a:r>
            <a:endParaRPr lang="en-US" sz="2450" dirty="0"/>
          </a:p>
        </p:txBody>
      </p:sp>
      <p:sp>
        <p:nvSpPr>
          <p:cNvPr id="5" name="Shape 2"/>
          <p:cNvSpPr/>
          <p:nvPr/>
        </p:nvSpPr>
        <p:spPr>
          <a:xfrm>
            <a:off x="914400" y="2119461"/>
            <a:ext cx="2324063" cy="3024039"/>
          </a:xfrm>
          <a:prstGeom prst="rect">
            <a:avLst/>
          </a:prstGeom>
          <a:solidFill>
            <a:srgbClr val="0B2545">
              <a:alpha val="2000"/>
            </a:srgbClr>
          </a:solidFill>
          <a:ln w="9144">
            <a:solidFill>
              <a:srgbClr val="0B2545"/>
            </a:solidFill>
            <a:prstDash val="dash"/>
          </a:ln>
        </p:spPr>
      </p:sp>
      <p:sp>
        <p:nvSpPr>
          <p:cNvPr id="6" name="Text 3"/>
          <p:cNvSpPr/>
          <p:nvPr/>
        </p:nvSpPr>
        <p:spPr>
          <a:xfrm>
            <a:off x="1143000" y="2348061"/>
            <a:ext cx="1866863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77F0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01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1143000" y="2565946"/>
            <a:ext cx="18668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NEED-SCORING MODEL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43000" y="3069580"/>
            <a:ext cx="1775222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13315C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Multi-criteria spatial analysis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143000" y="3275298"/>
            <a:ext cx="1796653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13315C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using a transparent, auditable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143000" y="3481015"/>
            <a:ext cx="51077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13315C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formula.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1143000" y="3811749"/>
            <a:ext cx="1866863" cy="53433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12" name="Shape 9"/>
          <p:cNvSpPr/>
          <p:nvPr/>
        </p:nvSpPr>
        <p:spPr>
          <a:xfrm>
            <a:off x="1143000" y="3811749"/>
            <a:ext cx="21431" cy="534330"/>
          </a:xfrm>
          <a:prstGeom prst="rect">
            <a:avLst/>
          </a:prstGeom>
          <a:solidFill>
            <a:srgbClr val="F77F00"/>
          </a:solidFill>
          <a:ln/>
        </p:spPr>
      </p:sp>
      <p:sp>
        <p:nvSpPr>
          <p:cNvPr id="13" name="Text 10"/>
          <p:cNvSpPr/>
          <p:nvPr/>
        </p:nvSpPr>
        <p:spPr>
          <a:xfrm>
            <a:off x="1143000" y="3811749"/>
            <a:ext cx="1866863" cy="53433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F4F4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Score = (Pop + Transit_D) - Coverage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1143000" y="4488954"/>
            <a:ext cx="503634" cy="200025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13315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SPATIAL</a:t>
            </a:r>
            <a:endParaRPr lang="en-US" sz="600" dirty="0"/>
          </a:p>
        </p:txBody>
      </p:sp>
      <p:sp>
        <p:nvSpPr>
          <p:cNvPr id="15" name="Text 12"/>
          <p:cNvSpPr/>
          <p:nvPr/>
        </p:nvSpPr>
        <p:spPr>
          <a:xfrm>
            <a:off x="1703784" y="4488954"/>
            <a:ext cx="610791" cy="200025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13315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AUDITABLE</a:t>
            </a:r>
            <a:endParaRPr lang="en-US" sz="600" dirty="0"/>
          </a:p>
        </p:txBody>
      </p:sp>
      <p:sp>
        <p:nvSpPr>
          <p:cNvPr id="16" name="Shape 13"/>
          <p:cNvSpPr/>
          <p:nvPr/>
        </p:nvSpPr>
        <p:spPr>
          <a:xfrm>
            <a:off x="3409913" y="2119461"/>
            <a:ext cx="2324119" cy="3024039"/>
          </a:xfrm>
          <a:prstGeom prst="rect">
            <a:avLst/>
          </a:prstGeom>
          <a:solidFill>
            <a:srgbClr val="0B2545">
              <a:alpha val="2000"/>
            </a:srgbClr>
          </a:solidFill>
          <a:ln w="9144">
            <a:solidFill>
              <a:srgbClr val="0B2545"/>
            </a:solidFill>
            <a:prstDash val="dash"/>
          </a:ln>
        </p:spPr>
      </p:sp>
      <p:sp>
        <p:nvSpPr>
          <p:cNvPr id="17" name="Text 14"/>
          <p:cNvSpPr/>
          <p:nvPr/>
        </p:nvSpPr>
        <p:spPr>
          <a:xfrm>
            <a:off x="3638513" y="2348061"/>
            <a:ext cx="1866919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77F0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02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3638513" y="2565946"/>
            <a:ext cx="186691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GROWTH FORECASTING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3638513" y="3051721"/>
            <a:ext cx="1866919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13315C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WorldPop CAGR-based phased urgency to stay ahead of urban expansion.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3638513" y="3811749"/>
            <a:ext cx="503634" cy="200025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13315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PHASE 1</a:t>
            </a:r>
            <a:endParaRPr lang="en-US" sz="600" dirty="0"/>
          </a:p>
        </p:txBody>
      </p:sp>
      <p:sp>
        <p:nvSpPr>
          <p:cNvPr id="21" name="Text 18"/>
          <p:cNvSpPr/>
          <p:nvPr/>
        </p:nvSpPr>
        <p:spPr>
          <a:xfrm>
            <a:off x="4199297" y="3811749"/>
            <a:ext cx="503634" cy="200025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13315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PHASE 2</a:t>
            </a:r>
            <a:endParaRPr lang="en-US" sz="600" dirty="0"/>
          </a:p>
        </p:txBody>
      </p:sp>
      <p:sp>
        <p:nvSpPr>
          <p:cNvPr id="22" name="Text 19"/>
          <p:cNvSpPr/>
          <p:nvPr/>
        </p:nvSpPr>
        <p:spPr>
          <a:xfrm>
            <a:off x="4760082" y="3811749"/>
            <a:ext cx="503634" cy="200025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13315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PHASE 3</a:t>
            </a:r>
            <a:endParaRPr lang="en-US" sz="600" dirty="0"/>
          </a:p>
        </p:txBody>
      </p:sp>
      <p:sp>
        <p:nvSpPr>
          <p:cNvPr id="23" name="Text 20"/>
          <p:cNvSpPr/>
          <p:nvPr/>
        </p:nvSpPr>
        <p:spPr>
          <a:xfrm>
            <a:off x="3638513" y="4768453"/>
            <a:ext cx="1866919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77F0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Predictive Horizon: 2026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5905481" y="2119461"/>
            <a:ext cx="2324119" cy="3024039"/>
          </a:xfrm>
          <a:prstGeom prst="rect">
            <a:avLst/>
          </a:prstGeom>
          <a:solidFill>
            <a:srgbClr val="0B2545">
              <a:alpha val="2000"/>
            </a:srgbClr>
          </a:solidFill>
          <a:ln w="9144">
            <a:solidFill>
              <a:srgbClr val="0B2545"/>
            </a:solidFill>
            <a:prstDash val="dash"/>
          </a:ln>
        </p:spPr>
      </p:sp>
      <p:sp>
        <p:nvSpPr>
          <p:cNvPr id="25" name="Text 22"/>
          <p:cNvSpPr/>
          <p:nvPr/>
        </p:nvSpPr>
        <p:spPr>
          <a:xfrm>
            <a:off x="6134081" y="2348061"/>
            <a:ext cx="1866919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77F0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03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6134081" y="2565946"/>
            <a:ext cx="186691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LIVE LLM INSIGHTS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134081" y="3069580"/>
            <a:ext cx="128587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13315C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Plain-language, data-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6134081" y="3069580"/>
            <a:ext cx="1864519" cy="370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13315C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grounded rationale generated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6134081" y="3275298"/>
            <a:ext cx="1585913" cy="370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13315C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in real time for every site.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6134081" y="3811749"/>
            <a:ext cx="1866919" cy="731453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i="1" dirty="0">
                <a:solidFill>
                  <a:srgbClr val="55555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"High transit demand at this node justifies a 10-bay battery swap station..."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6134081" y="4686077"/>
            <a:ext cx="610791" cy="200025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13315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REAL-TIME</a:t>
            </a:r>
            <a:endParaRPr lang="en-US" sz="600" dirty="0"/>
          </a:p>
        </p:txBody>
      </p:sp>
      <p:sp>
        <p:nvSpPr>
          <p:cNvPr id="32" name="Text 29"/>
          <p:cNvSpPr/>
          <p:nvPr/>
        </p:nvSpPr>
        <p:spPr>
          <a:xfrm>
            <a:off x="6802022" y="4686077"/>
            <a:ext cx="664369" cy="200025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13315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ACTIONABLE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571500"/>
            <a:ext cx="7315200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77F00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06 | WHY THIS IS REPLICABLE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914400" y="867966"/>
            <a:ext cx="7315200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0B2545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Not a Nairobi dashboard — a global pipeline.</a:t>
            </a:r>
            <a:endParaRPr lang="en-US" sz="2450" dirty="0"/>
          </a:p>
        </p:txBody>
      </p:sp>
      <p:sp>
        <p:nvSpPr>
          <p:cNvPr id="5" name="Shape 2"/>
          <p:cNvSpPr/>
          <p:nvPr/>
        </p:nvSpPr>
        <p:spPr>
          <a:xfrm>
            <a:off x="914400" y="2119461"/>
            <a:ext cx="2295488" cy="1710928"/>
          </a:xfrm>
          <a:prstGeom prst="rect">
            <a:avLst/>
          </a:prstGeom>
          <a:solidFill>
            <a:srgbClr val="0B2545">
              <a:alpha val="2000"/>
            </a:srgbClr>
          </a:solidFill>
          <a:ln w="9144">
            <a:solidFill>
              <a:srgbClr val="0B2545"/>
            </a:solidFill>
            <a:prstDash val="dash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713" y="2333774"/>
            <a:ext cx="1866863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28713" y="2705249"/>
            <a:ext cx="1866863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OPENSTREETMAP (OSM)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1128713" y="3023146"/>
            <a:ext cx="1866863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3315C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Global road network and infrastructure data, accessible for any urban center.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3424200" y="2119461"/>
            <a:ext cx="2295544" cy="1710928"/>
          </a:xfrm>
          <a:prstGeom prst="rect">
            <a:avLst/>
          </a:prstGeom>
          <a:solidFill>
            <a:srgbClr val="0B2545">
              <a:alpha val="2000"/>
            </a:srgbClr>
          </a:solidFill>
          <a:ln w="9144">
            <a:solidFill>
              <a:srgbClr val="0B2545"/>
            </a:solidFill>
            <a:prstDash val="dash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8513" y="2333774"/>
            <a:ext cx="1866919" cy="228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638513" y="2705249"/>
            <a:ext cx="1866919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WORLDPOP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3638513" y="3023146"/>
            <a:ext cx="1866919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3315C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High-resolution contemporary data on human population distributions.</a:t>
            </a:r>
            <a:endParaRPr lang="en-US" sz="950" dirty="0"/>
          </a:p>
        </p:txBody>
      </p:sp>
      <p:sp>
        <p:nvSpPr>
          <p:cNvPr id="13" name="Shape 8"/>
          <p:cNvSpPr/>
          <p:nvPr/>
        </p:nvSpPr>
        <p:spPr>
          <a:xfrm>
            <a:off x="5934056" y="2119461"/>
            <a:ext cx="2295544" cy="1710928"/>
          </a:xfrm>
          <a:prstGeom prst="rect">
            <a:avLst/>
          </a:prstGeom>
          <a:solidFill>
            <a:srgbClr val="0B2545">
              <a:alpha val="2000"/>
            </a:srgbClr>
          </a:solidFill>
          <a:ln w="9144">
            <a:solidFill>
              <a:srgbClr val="0B2545"/>
            </a:solidFill>
            <a:prstDash val="dash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8369" y="2333774"/>
            <a:ext cx="1866919" cy="2286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148369" y="2705249"/>
            <a:ext cx="1866919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GTFS FEEDS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6148369" y="3023146"/>
            <a:ext cx="1866919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3315C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Standardized transit schedules and geographic information for city transport.</a:t>
            </a:r>
            <a:endParaRPr lang="en-US" sz="950" dirty="0"/>
          </a:p>
        </p:txBody>
      </p:sp>
      <p:sp>
        <p:nvSpPr>
          <p:cNvPr id="17" name="Shape 11"/>
          <p:cNvSpPr/>
          <p:nvPr/>
        </p:nvSpPr>
        <p:spPr>
          <a:xfrm>
            <a:off x="914400" y="4244727"/>
            <a:ext cx="7315200" cy="6429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8" name="Shape 12"/>
          <p:cNvSpPr/>
          <p:nvPr/>
        </p:nvSpPr>
        <p:spPr>
          <a:xfrm>
            <a:off x="914400" y="4244727"/>
            <a:ext cx="7315200" cy="7144"/>
          </a:xfrm>
          <a:prstGeom prst="rect">
            <a:avLst/>
          </a:prstGeom>
          <a:solidFill>
            <a:srgbClr val="0B2545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598343"/>
            <a:ext cx="125016" cy="142875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146572" y="4459039"/>
            <a:ext cx="7083028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B2545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City-agnostic scripts: Reproducible with AI coding assistants, no specialist GIS department required.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8547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0"/>
            <a:ext cx="7315200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77F00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07 | KEY FINDING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491258" y="328613"/>
            <a:ext cx="6161484" cy="5893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2850" b="1" dirty="0">
                <a:solidFill>
                  <a:srgbClr val="0B2545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Nairobi's highest-need e-</a:t>
            </a:r>
            <a:endParaRPr lang="en-US" sz="2850" dirty="0"/>
          </a:p>
        </p:txBody>
      </p:sp>
      <p:sp>
        <p:nvSpPr>
          <p:cNvPr id="5" name="Text 2"/>
          <p:cNvSpPr/>
          <p:nvPr/>
        </p:nvSpPr>
        <p:spPr>
          <a:xfrm>
            <a:off x="1860947" y="768623"/>
            <a:ext cx="5422106" cy="5893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2850" b="1" dirty="0">
                <a:solidFill>
                  <a:srgbClr val="0B2545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mobility hotspots have</a:t>
            </a:r>
            <a:endParaRPr lang="en-US" sz="2850" dirty="0"/>
          </a:p>
        </p:txBody>
      </p:sp>
      <p:sp>
        <p:nvSpPr>
          <p:cNvPr id="6" name="Text 3"/>
          <p:cNvSpPr/>
          <p:nvPr/>
        </p:nvSpPr>
        <p:spPr>
          <a:xfrm>
            <a:off x="1000125" y="1426518"/>
            <a:ext cx="7143750" cy="9429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6200" b="1" dirty="0">
                <a:solidFill>
                  <a:srgbClr val="F77F00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ZERO</a:t>
            </a:r>
            <a:endParaRPr lang="en-US" sz="6200" dirty="0"/>
          </a:p>
        </p:txBody>
      </p:sp>
      <p:sp>
        <p:nvSpPr>
          <p:cNvPr id="7" name="Text 4"/>
          <p:cNvSpPr/>
          <p:nvPr/>
        </p:nvSpPr>
        <p:spPr>
          <a:xfrm>
            <a:off x="1368028" y="2437358"/>
            <a:ext cx="6407944" cy="5893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2850" b="1" dirty="0">
                <a:solidFill>
                  <a:srgbClr val="0B2545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verified charging coverage</a:t>
            </a:r>
            <a:endParaRPr lang="en-US" sz="2850" dirty="0"/>
          </a:p>
        </p:txBody>
      </p:sp>
      <p:sp>
        <p:nvSpPr>
          <p:cNvPr id="8" name="Text 5"/>
          <p:cNvSpPr/>
          <p:nvPr/>
        </p:nvSpPr>
        <p:spPr>
          <a:xfrm>
            <a:off x="3832622" y="2877369"/>
            <a:ext cx="1478756" cy="5893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2850" b="1" dirty="0">
                <a:solidFill>
                  <a:srgbClr val="0B2545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today.</a:t>
            </a:r>
            <a:endParaRPr lang="en-US" sz="2850" dirty="0"/>
          </a:p>
        </p:txBody>
      </p:sp>
      <p:sp>
        <p:nvSpPr>
          <p:cNvPr id="9" name="Shape 6"/>
          <p:cNvSpPr/>
          <p:nvPr/>
        </p:nvSpPr>
        <p:spPr>
          <a:xfrm>
            <a:off x="914400" y="3821013"/>
            <a:ext cx="3514725" cy="1364456"/>
          </a:xfrm>
          <a:prstGeom prst="rect">
            <a:avLst/>
          </a:prstGeom>
          <a:solidFill>
            <a:srgbClr val="FFFFFF">
              <a:alpha val="50000"/>
            </a:srgbClr>
          </a:solidFill>
          <a:ln w="9144">
            <a:solidFill>
              <a:srgbClr val="0B2545"/>
            </a:solidFill>
            <a:prstDash val="dash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713" y="4063901"/>
            <a:ext cx="85725" cy="1143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85875" y="4035326"/>
            <a:ext cx="15716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77F00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CURRENT INFRASTRUCTURE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1128713" y="4313932"/>
            <a:ext cx="3086100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3315C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Clusters heavily around commercial and CBD sites, following high-income real estate trends rather than transit demand.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714875" y="3821013"/>
            <a:ext cx="3514725" cy="1364456"/>
          </a:xfrm>
          <a:prstGeom prst="rect">
            <a:avLst/>
          </a:prstGeom>
          <a:solidFill>
            <a:srgbClr val="FFFFFF">
              <a:alpha val="50000"/>
            </a:srgbClr>
          </a:solidFill>
          <a:ln w="9144">
            <a:solidFill>
              <a:srgbClr val="0B2545"/>
            </a:solidFill>
            <a:prstDash val="dash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9188" y="4063901"/>
            <a:ext cx="142875" cy="1143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143500" y="4035326"/>
            <a:ext cx="1428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77F00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ACTUAL MOBILITY NEED</a:t>
            </a: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4929188" y="4313932"/>
            <a:ext cx="3086100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3315C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Concentrates in high-density residential corridors and peak transit hubs where charging access is non-existent.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571500"/>
            <a:ext cx="7315200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77F00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08 | THE GAP IS GROWING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914400" y="867966"/>
            <a:ext cx="7315200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0B2545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Urban growth is outpacing infrastructure.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914400" y="2634202"/>
            <a:ext cx="3675459" cy="8572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6600" dirty="0">
                <a:solidFill>
                  <a:srgbClr val="F77F00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+21,000</a:t>
            </a:r>
            <a:endParaRPr lang="en-US" sz="6600" dirty="0"/>
          </a:p>
        </p:txBody>
      </p:sp>
      <p:sp>
        <p:nvSpPr>
          <p:cNvPr id="6" name="Text 3"/>
          <p:cNvSpPr/>
          <p:nvPr/>
        </p:nvSpPr>
        <p:spPr>
          <a:xfrm>
            <a:off x="914400" y="3562890"/>
            <a:ext cx="2857500" cy="780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0B2545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Predicted new residents in the #1 need hexagon by mid-2026.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018484" y="2043168"/>
            <a:ext cx="3211116" cy="2890875"/>
          </a:xfrm>
          <a:prstGeom prst="rect">
            <a:avLst/>
          </a:prstGeom>
          <a:solidFill>
            <a:srgbClr val="0B2545">
              <a:alpha val="2000"/>
            </a:srgbClr>
          </a:solidFill>
          <a:ln w="9144">
            <a:solidFill>
              <a:srgbClr val="0B2545"/>
            </a:solidFill>
            <a:prstDash val="dash"/>
          </a:ln>
        </p:spPr>
      </p:sp>
      <p:sp>
        <p:nvSpPr>
          <p:cNvPr id="8" name="Text 5"/>
          <p:cNvSpPr/>
          <p:nvPr/>
        </p:nvSpPr>
        <p:spPr>
          <a:xfrm>
            <a:off x="5232797" y="2264625"/>
            <a:ext cx="1371600" cy="296466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COMPOUNDING RISK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232797" y="2689678"/>
            <a:ext cx="2782491" cy="5028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3315C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Current mobility need and fastest population growth overlap perfectly.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232797" y="3292543"/>
            <a:ext cx="2782491" cy="1005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3315C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Without data-driven intervention, the access gap compounds every month, locking in high-emission transit patterns for new residents.</a:t>
            </a:r>
            <a:endParaRPr lang="en-US" sz="11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2797" y="4569712"/>
            <a:ext cx="114300" cy="1143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47097" y="4541137"/>
            <a:ext cx="2286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77F00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CRITICAL WINDOW: NEXT 18 MONTHS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571500"/>
            <a:ext cx="7315200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77F00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09 | LIVE DEMO PREVIEW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914400" y="867966"/>
            <a:ext cx="7315200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0B2545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Fully interactive — not a static map.</a:t>
            </a:r>
            <a:endParaRPr lang="en-US" sz="2450" dirty="0"/>
          </a:p>
        </p:txBody>
      </p:sp>
      <p:sp>
        <p:nvSpPr>
          <p:cNvPr id="5" name="Shape 2"/>
          <p:cNvSpPr/>
          <p:nvPr/>
        </p:nvSpPr>
        <p:spPr>
          <a:xfrm>
            <a:off x="914400" y="1905149"/>
            <a:ext cx="2362181" cy="2691854"/>
          </a:xfrm>
          <a:prstGeom prst="rect">
            <a:avLst/>
          </a:prstGeom>
          <a:solidFill>
            <a:srgbClr val="FFFFFF"/>
          </a:solidFill>
          <a:ln w="9144">
            <a:solidFill>
              <a:srgbClr val="0B2545"/>
            </a:solidFill>
            <a:prstDash val="dash"/>
          </a:ln>
        </p:spPr>
      </p:sp>
      <p:sp>
        <p:nvSpPr>
          <p:cNvPr id="6" name="Shape 3"/>
          <p:cNvSpPr/>
          <p:nvPr/>
        </p:nvSpPr>
        <p:spPr>
          <a:xfrm>
            <a:off x="914400" y="1905149"/>
            <a:ext cx="2362181" cy="271463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7" name="Text 4"/>
          <p:cNvSpPr/>
          <p:nvPr/>
        </p:nvSpPr>
        <p:spPr>
          <a:xfrm>
            <a:off x="1021556" y="1976586"/>
            <a:ext cx="4286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LAYER 01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1937128" y="1976586"/>
            <a:ext cx="123229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EXISTING INFRASTRUCTURE</a:t>
            </a:r>
            <a:endParaRPr lang="en-US" sz="600" dirty="0"/>
          </a:p>
        </p:txBody>
      </p:sp>
      <p:sp>
        <p:nvSpPr>
          <p:cNvPr id="9" name="Shape 6"/>
          <p:cNvSpPr/>
          <p:nvPr/>
        </p:nvSpPr>
        <p:spPr>
          <a:xfrm>
            <a:off x="914400" y="2176611"/>
            <a:ext cx="2362181" cy="2420392"/>
          </a:xfrm>
          <a:prstGeom prst="rect">
            <a:avLst/>
          </a:prstGeom>
          <a:solidFill>
            <a:srgbClr val="0B2545">
              <a:alpha val="2000"/>
            </a:srgbClr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1838288" y="3013546"/>
            <a:ext cx="51435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4635" y="3613621"/>
            <a:ext cx="1821656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254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Verified Charging Coverage Map</a:t>
            </a:r>
            <a:endParaRPr lang="en-US" sz="750" dirty="0"/>
          </a:p>
        </p:txBody>
      </p:sp>
      <p:sp>
        <p:nvSpPr>
          <p:cNvPr id="12" name="Shape 8"/>
          <p:cNvSpPr/>
          <p:nvPr/>
        </p:nvSpPr>
        <p:spPr>
          <a:xfrm>
            <a:off x="3390881" y="1905149"/>
            <a:ext cx="2362181" cy="2691854"/>
          </a:xfrm>
          <a:prstGeom prst="rect">
            <a:avLst/>
          </a:prstGeom>
          <a:solidFill>
            <a:srgbClr val="FFFFFF"/>
          </a:solidFill>
          <a:ln w="9144">
            <a:solidFill>
              <a:srgbClr val="0B2545"/>
            </a:solidFill>
            <a:prstDash val="dash"/>
          </a:ln>
        </p:spPr>
      </p:sp>
      <p:sp>
        <p:nvSpPr>
          <p:cNvPr id="13" name="Shape 9"/>
          <p:cNvSpPr/>
          <p:nvPr/>
        </p:nvSpPr>
        <p:spPr>
          <a:xfrm>
            <a:off x="3390881" y="1905149"/>
            <a:ext cx="2362181" cy="271463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14" name="Text 10"/>
          <p:cNvSpPr/>
          <p:nvPr/>
        </p:nvSpPr>
        <p:spPr>
          <a:xfrm>
            <a:off x="3498038" y="1976586"/>
            <a:ext cx="4286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LAYER 02</a:t>
            </a:r>
            <a:endParaRPr lang="en-US" sz="600" dirty="0"/>
          </a:p>
        </p:txBody>
      </p:sp>
      <p:sp>
        <p:nvSpPr>
          <p:cNvPr id="15" name="Text 11"/>
          <p:cNvSpPr/>
          <p:nvPr/>
        </p:nvSpPr>
        <p:spPr>
          <a:xfrm>
            <a:off x="4895813" y="1976586"/>
            <a:ext cx="75009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TRANSIT DEMAND</a:t>
            </a:r>
            <a:endParaRPr lang="en-US" sz="600" dirty="0"/>
          </a:p>
        </p:txBody>
      </p:sp>
      <p:sp>
        <p:nvSpPr>
          <p:cNvPr id="16" name="Shape 12"/>
          <p:cNvSpPr/>
          <p:nvPr/>
        </p:nvSpPr>
        <p:spPr>
          <a:xfrm>
            <a:off x="3390881" y="2176611"/>
            <a:ext cx="2362181" cy="2420392"/>
          </a:xfrm>
          <a:prstGeom prst="rect">
            <a:avLst/>
          </a:prstGeom>
          <a:solidFill>
            <a:srgbClr val="0B2545">
              <a:alpha val="2000"/>
            </a:srgbClr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4286194" y="3013546"/>
            <a:ext cx="5715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873643" y="3613621"/>
            <a:ext cx="1396603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254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H3 Hexagon Need Scoring</a:t>
            </a:r>
            <a:endParaRPr lang="en-US" sz="750" dirty="0"/>
          </a:p>
        </p:txBody>
      </p:sp>
      <p:sp>
        <p:nvSpPr>
          <p:cNvPr id="19" name="Shape 14"/>
          <p:cNvSpPr/>
          <p:nvPr/>
        </p:nvSpPr>
        <p:spPr>
          <a:xfrm>
            <a:off x="5867363" y="1905149"/>
            <a:ext cx="2362181" cy="2691854"/>
          </a:xfrm>
          <a:prstGeom prst="rect">
            <a:avLst/>
          </a:prstGeom>
          <a:solidFill>
            <a:srgbClr val="FFFFFF"/>
          </a:solidFill>
          <a:ln w="9144">
            <a:solidFill>
              <a:srgbClr val="0B2545"/>
            </a:solidFill>
            <a:prstDash val="dash"/>
          </a:ln>
        </p:spPr>
      </p:sp>
      <p:sp>
        <p:nvSpPr>
          <p:cNvPr id="20" name="Shape 15"/>
          <p:cNvSpPr/>
          <p:nvPr/>
        </p:nvSpPr>
        <p:spPr>
          <a:xfrm>
            <a:off x="5867363" y="1905149"/>
            <a:ext cx="2362181" cy="271463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21" name="Text 16"/>
          <p:cNvSpPr/>
          <p:nvPr/>
        </p:nvSpPr>
        <p:spPr>
          <a:xfrm>
            <a:off x="5974519" y="1976586"/>
            <a:ext cx="4286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LAYER 03</a:t>
            </a:r>
            <a:endParaRPr lang="en-US" sz="600" dirty="0"/>
          </a:p>
        </p:txBody>
      </p:sp>
      <p:sp>
        <p:nvSpPr>
          <p:cNvPr id="22" name="Text 17"/>
          <p:cNvSpPr/>
          <p:nvPr/>
        </p:nvSpPr>
        <p:spPr>
          <a:xfrm>
            <a:off x="7479450" y="1976586"/>
            <a:ext cx="64293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AI RATIONALE</a:t>
            </a:r>
            <a:endParaRPr lang="en-US" sz="600" dirty="0"/>
          </a:p>
        </p:txBody>
      </p:sp>
      <p:sp>
        <p:nvSpPr>
          <p:cNvPr id="23" name="Shape 18"/>
          <p:cNvSpPr/>
          <p:nvPr/>
        </p:nvSpPr>
        <p:spPr>
          <a:xfrm>
            <a:off x="5867363" y="2176611"/>
            <a:ext cx="2362181" cy="1851850"/>
          </a:xfrm>
          <a:prstGeom prst="rect">
            <a:avLst/>
          </a:prstGeom>
          <a:solidFill>
            <a:srgbClr val="0B2545">
              <a:alpha val="2000"/>
            </a:srgbClr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6819826" y="2729247"/>
            <a:ext cx="457200" cy="4572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380485" y="3329322"/>
            <a:ext cx="1335881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254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Site-Specific Insights</a:t>
            </a:r>
            <a:endParaRPr lang="en-US" sz="750" dirty="0"/>
          </a:p>
        </p:txBody>
      </p:sp>
      <p:sp>
        <p:nvSpPr>
          <p:cNvPr id="26" name="Shape 20"/>
          <p:cNvSpPr/>
          <p:nvPr/>
        </p:nvSpPr>
        <p:spPr>
          <a:xfrm>
            <a:off x="5867363" y="4028461"/>
            <a:ext cx="2362181" cy="568542"/>
          </a:xfrm>
          <a:prstGeom prst="rect">
            <a:avLst/>
          </a:prstGeom>
          <a:solidFill>
            <a:srgbClr val="F4F4F6"/>
          </a:solidFill>
          <a:ln/>
        </p:spPr>
      </p:sp>
      <p:sp>
        <p:nvSpPr>
          <p:cNvPr id="27" name="Shape 21"/>
          <p:cNvSpPr/>
          <p:nvPr/>
        </p:nvSpPr>
        <p:spPr>
          <a:xfrm>
            <a:off x="5867363" y="4028461"/>
            <a:ext cx="2362181" cy="7144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28" name="Text 22"/>
          <p:cNvSpPr/>
          <p:nvPr/>
        </p:nvSpPr>
        <p:spPr>
          <a:xfrm>
            <a:off x="5867363" y="4028461"/>
            <a:ext cx="2362181" cy="568542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b="1" dirty="0">
                <a:solidFill>
                  <a:srgbClr val="13315C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AI Rationale:</a:t>
            </a:r>
            <a:r>
              <a:rPr lang="en-US" sz="650" dirty="0">
                <a:solidFill>
                  <a:srgbClr val="13315C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 "High-density residential overlap </a:t>
            </a:r>
            <a:r>
              <a:rPr lang="en-US" sz="650" dirty="0">
                <a:solidFill>
                  <a:srgbClr val="13315C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with peak GTFS transit flow. Recommending 4x </a:t>
            </a:r>
            <a:r>
              <a:rPr lang="en-US" sz="650" dirty="0">
                <a:solidFill>
                  <a:srgbClr val="13315C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Battery Swap units for Phase 1."</a:t>
            </a:r>
            <a:endParaRPr lang="en-US" sz="650" dirty="0"/>
          </a:p>
        </p:txBody>
      </p:sp>
      <p:sp>
        <p:nvSpPr>
          <p:cNvPr id="29" name="Shape 23"/>
          <p:cNvSpPr/>
          <p:nvPr/>
        </p:nvSpPr>
        <p:spPr>
          <a:xfrm>
            <a:off x="914400" y="4739878"/>
            <a:ext cx="7315200" cy="40362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0" name="Shape 24"/>
          <p:cNvSpPr/>
          <p:nvPr/>
        </p:nvSpPr>
        <p:spPr>
          <a:xfrm>
            <a:off x="914400" y="4739878"/>
            <a:ext cx="7315200" cy="7144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1" name="Text 25"/>
          <p:cNvSpPr/>
          <p:nvPr/>
        </p:nvSpPr>
        <p:spPr>
          <a:xfrm>
            <a:off x="914400" y="4889897"/>
            <a:ext cx="4454128" cy="253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Designed for decisions, not just discovery.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6543675" y="4900613"/>
            <a:ext cx="1685925" cy="232172"/>
          </a:xfrm>
          <a:prstGeom prst="rect">
            <a:avLst/>
          </a:prstGeom>
          <a:noFill/>
          <a:ln/>
        </p:spPr>
        <p:txBody>
          <a:bodyPr wrap="square" lIns="127508" tIns="42545" rIns="127508" bIns="42545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77F0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LIVE PROTOTYPE AVAILABLE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67414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571500"/>
            <a:ext cx="7315200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77F00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10 | WHO THIS IS FOR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914400" y="867966"/>
            <a:ext cx="7315200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0B2545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One decision layer. Multiple buyers.</a:t>
            </a:r>
            <a:endParaRPr lang="en-US" sz="2450" dirty="0"/>
          </a:p>
        </p:txBody>
      </p:sp>
      <p:sp>
        <p:nvSpPr>
          <p:cNvPr id="5" name="Shape 2"/>
          <p:cNvSpPr/>
          <p:nvPr/>
        </p:nvSpPr>
        <p:spPr>
          <a:xfrm>
            <a:off x="914400" y="2190899"/>
            <a:ext cx="2324063" cy="1441586"/>
          </a:xfrm>
          <a:prstGeom prst="rect">
            <a:avLst/>
          </a:prstGeom>
          <a:solidFill>
            <a:srgbClr val="0B2545">
              <a:alpha val="2000"/>
            </a:srgbClr>
          </a:solidFill>
          <a:ln w="9144">
            <a:solidFill>
              <a:srgbClr val="0B2545"/>
            </a:solidFill>
            <a:prstDash val="dash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7838" y="2405211"/>
            <a:ext cx="357188" cy="32146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28713" y="2869555"/>
            <a:ext cx="1895438" cy="33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0B2545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CITY PLANNING &amp; TRANSPORT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485286" y="3275298"/>
            <a:ext cx="118229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3315C">
                    <a:alpha val="80000"/>
                  </a:srgbClr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Data-driven urban policy</a:t>
            </a:r>
            <a:endParaRPr lang="en-US" sz="750" dirty="0"/>
          </a:p>
        </p:txBody>
      </p:sp>
      <p:sp>
        <p:nvSpPr>
          <p:cNvPr id="9" name="Shape 5"/>
          <p:cNvSpPr/>
          <p:nvPr/>
        </p:nvSpPr>
        <p:spPr>
          <a:xfrm>
            <a:off x="3409913" y="2190899"/>
            <a:ext cx="2324119" cy="1427299"/>
          </a:xfrm>
          <a:prstGeom prst="rect">
            <a:avLst/>
          </a:prstGeom>
          <a:solidFill>
            <a:srgbClr val="0B2545">
              <a:alpha val="2000"/>
            </a:srgbClr>
          </a:solidFill>
          <a:ln w="9144">
            <a:solidFill>
              <a:srgbClr val="0B2545"/>
            </a:solidFill>
            <a:prstDash val="dash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9069" y="2488760"/>
            <a:ext cx="285750" cy="32146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746841" y="2953103"/>
            <a:ext cx="1650206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0B2545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NATIONAL POLICY TEAMS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4080811" y="3191694"/>
            <a:ext cx="98226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3315C">
                    <a:alpha val="80000"/>
                  </a:srgbClr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E-mobility roadmaps</a:t>
            </a:r>
            <a:endParaRPr lang="en-US" sz="750" dirty="0"/>
          </a:p>
        </p:txBody>
      </p:sp>
      <p:sp>
        <p:nvSpPr>
          <p:cNvPr id="13" name="Shape 8"/>
          <p:cNvSpPr/>
          <p:nvPr/>
        </p:nvSpPr>
        <p:spPr>
          <a:xfrm>
            <a:off x="5905481" y="2190899"/>
            <a:ext cx="2324119" cy="1427299"/>
          </a:xfrm>
          <a:prstGeom prst="rect">
            <a:avLst/>
          </a:prstGeom>
          <a:solidFill>
            <a:srgbClr val="0B2545">
              <a:alpha val="2000"/>
            </a:srgbClr>
          </a:solidFill>
          <a:ln w="9144">
            <a:solidFill>
              <a:srgbClr val="0B2545"/>
            </a:solidFill>
            <a:prstDash val="dash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4638" y="2488760"/>
            <a:ext cx="285750" cy="32146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163828" y="2953103"/>
            <a:ext cx="1807369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0B2545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C40 / I4C MEMBER CITIES</a:t>
            </a:r>
            <a:endParaRPr lang="en-US" sz="900" dirty="0"/>
          </a:p>
        </p:txBody>
      </p:sp>
      <p:sp>
        <p:nvSpPr>
          <p:cNvPr id="16" name="Text 10"/>
          <p:cNvSpPr/>
          <p:nvPr/>
        </p:nvSpPr>
        <p:spPr>
          <a:xfrm>
            <a:off x="6624600" y="3191694"/>
            <a:ext cx="8858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3315C">
                    <a:alpha val="80000"/>
                  </a:srgbClr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Global replicability</a:t>
            </a:r>
            <a:endParaRPr lang="en-US" sz="750" dirty="0"/>
          </a:p>
        </p:txBody>
      </p:sp>
      <p:sp>
        <p:nvSpPr>
          <p:cNvPr id="17" name="Shape 11"/>
          <p:cNvSpPr/>
          <p:nvPr/>
        </p:nvSpPr>
        <p:spPr>
          <a:xfrm>
            <a:off x="914400" y="3789648"/>
            <a:ext cx="2324063" cy="1427299"/>
          </a:xfrm>
          <a:prstGeom prst="rect">
            <a:avLst/>
          </a:prstGeom>
          <a:solidFill>
            <a:srgbClr val="0B2545">
              <a:alpha val="2000"/>
            </a:srgbClr>
          </a:solidFill>
          <a:ln w="9144">
            <a:solidFill>
              <a:srgbClr val="0B2545"/>
            </a:solidFill>
            <a:prstDash val="dash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15697" y="4087509"/>
            <a:ext cx="321469" cy="321469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290619" y="4551852"/>
            <a:ext cx="1571625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0B2545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E-MOBILITY OPERATORS</a:t>
            </a:r>
            <a:endParaRPr lang="en-US" sz="900" dirty="0"/>
          </a:p>
        </p:txBody>
      </p:sp>
      <p:sp>
        <p:nvSpPr>
          <p:cNvPr id="20" name="Text 13"/>
          <p:cNvSpPr/>
          <p:nvPr/>
        </p:nvSpPr>
        <p:spPr>
          <a:xfrm>
            <a:off x="1463855" y="4790442"/>
            <a:ext cx="122515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3315C">
                    <a:alpha val="80000"/>
                  </a:srgbClr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Roam, BasiGo, Ampersand</a:t>
            </a:r>
            <a:endParaRPr lang="en-US" sz="750" dirty="0"/>
          </a:p>
        </p:txBody>
      </p:sp>
      <p:sp>
        <p:nvSpPr>
          <p:cNvPr id="21" name="Shape 14"/>
          <p:cNvSpPr/>
          <p:nvPr/>
        </p:nvSpPr>
        <p:spPr>
          <a:xfrm>
            <a:off x="3409913" y="3789648"/>
            <a:ext cx="2324119" cy="1427299"/>
          </a:xfrm>
          <a:prstGeom prst="rect">
            <a:avLst/>
          </a:prstGeom>
          <a:solidFill>
            <a:srgbClr val="0B2545">
              <a:alpha val="2000"/>
            </a:srgbClr>
          </a:solidFill>
          <a:ln w="9144">
            <a:solidFill>
              <a:srgbClr val="0B2545"/>
            </a:solidFill>
            <a:prstDash val="dash"/>
          </a:ln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4788" y="4087509"/>
            <a:ext cx="214313" cy="321469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3864713" y="4551852"/>
            <a:ext cx="1414463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0B2545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REAL ESTATE OWNERS</a:t>
            </a:r>
            <a:endParaRPr lang="en-US" sz="900" dirty="0"/>
          </a:p>
        </p:txBody>
      </p:sp>
      <p:sp>
        <p:nvSpPr>
          <p:cNvPr id="24" name="Text 16"/>
          <p:cNvSpPr/>
          <p:nvPr/>
        </p:nvSpPr>
        <p:spPr>
          <a:xfrm>
            <a:off x="4125460" y="4790442"/>
            <a:ext cx="89296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3315C">
                    <a:alpha val="80000"/>
                  </a:srgbClr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Asset monetization</a:t>
            </a:r>
            <a:endParaRPr lang="en-US" sz="750" dirty="0"/>
          </a:p>
        </p:txBody>
      </p:sp>
      <p:sp>
        <p:nvSpPr>
          <p:cNvPr id="25" name="Shape 17"/>
          <p:cNvSpPr/>
          <p:nvPr/>
        </p:nvSpPr>
        <p:spPr>
          <a:xfrm>
            <a:off x="5905481" y="3789648"/>
            <a:ext cx="2324119" cy="1427299"/>
          </a:xfrm>
          <a:prstGeom prst="rect">
            <a:avLst/>
          </a:prstGeom>
          <a:solidFill>
            <a:srgbClr val="0B2545">
              <a:alpha val="2000"/>
            </a:srgbClr>
          </a:solidFill>
          <a:ln w="9144">
            <a:solidFill>
              <a:srgbClr val="0B2545"/>
            </a:solidFill>
            <a:prstDash val="dash"/>
          </a:ln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6778" y="4087509"/>
            <a:ext cx="321469" cy="321469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6478153" y="4551852"/>
            <a:ext cx="1178719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0B2545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CLIMATE FINANCE</a:t>
            </a:r>
            <a:endParaRPr lang="en-US" sz="900" dirty="0"/>
          </a:p>
        </p:txBody>
      </p:sp>
      <p:sp>
        <p:nvSpPr>
          <p:cNvPr id="28" name="Text 19"/>
          <p:cNvSpPr/>
          <p:nvPr/>
        </p:nvSpPr>
        <p:spPr>
          <a:xfrm>
            <a:off x="6674607" y="4790442"/>
            <a:ext cx="78581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3315C">
                    <a:alpha val="80000"/>
                  </a:srgbClr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Impact investors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428625"/>
            <a:ext cx="7315200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77F00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11 | BUSINESS MODEL &amp; IMPACT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914400" y="689372"/>
            <a:ext cx="731520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800" b="1" dirty="0">
                <a:solidFill>
                  <a:srgbClr val="0B2545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We don't run charging stations — we tell the people who do exactly where to build them.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914400" y="1449400"/>
            <a:ext cx="2343150" cy="2000250"/>
          </a:xfrm>
          <a:prstGeom prst="rect">
            <a:avLst/>
          </a:prstGeom>
          <a:solidFill>
            <a:srgbClr val="0B2545">
              <a:alpha val="2000"/>
            </a:srgbClr>
          </a:solidFill>
          <a:ln w="9144">
            <a:solidFill>
              <a:srgbClr val="0B2545"/>
            </a:solidFill>
            <a:prstDash val="dash"/>
          </a:ln>
        </p:spPr>
      </p:sp>
      <p:sp>
        <p:nvSpPr>
          <p:cNvPr id="6" name="Text 3"/>
          <p:cNvSpPr/>
          <p:nvPr/>
        </p:nvSpPr>
        <p:spPr>
          <a:xfrm>
            <a:off x="1057275" y="1592275"/>
            <a:ext cx="20574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77F00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SITING-AS-A-SERVICE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57275" y="1992325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3315C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Charge-point operators pay for verified, ranked, AI-explained site recommendations, turning high-risk capex into data.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057275" y="3081747"/>
            <a:ext cx="2057400" cy="225028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B2545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MODEL: PER-REPORT / SUB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3400425" y="1449400"/>
            <a:ext cx="2343150" cy="2000250"/>
          </a:xfrm>
          <a:prstGeom prst="rect">
            <a:avLst/>
          </a:prstGeom>
          <a:solidFill>
            <a:srgbClr val="0B2545">
              <a:alpha val="2000"/>
            </a:srgbClr>
          </a:solidFill>
          <a:ln w="9144">
            <a:solidFill>
              <a:srgbClr val="0B2545"/>
            </a:solidFill>
            <a:prstDash val="dash"/>
          </a:ln>
        </p:spPr>
      </p:sp>
      <p:sp>
        <p:nvSpPr>
          <p:cNvPr id="10" name="Text 7"/>
          <p:cNvSpPr/>
          <p:nvPr/>
        </p:nvSpPr>
        <p:spPr>
          <a:xfrm>
            <a:off x="3543300" y="1592275"/>
            <a:ext cx="20574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77F00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REAL ESTATE MATCHMAKING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543300" y="1992325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3315C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Property owners list sites; we score them against demand and match them to operators for a conversion fee.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3543300" y="3081747"/>
            <a:ext cx="2057400" cy="225028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B2545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MODEL: BROKERAGE FEE</a:t>
            </a:r>
            <a:endParaRPr lang="en-US" sz="700" dirty="0"/>
          </a:p>
        </p:txBody>
      </p:sp>
      <p:sp>
        <p:nvSpPr>
          <p:cNvPr id="13" name="Shape 10"/>
          <p:cNvSpPr/>
          <p:nvPr/>
        </p:nvSpPr>
        <p:spPr>
          <a:xfrm>
            <a:off x="5886450" y="1449400"/>
            <a:ext cx="2343150" cy="2000250"/>
          </a:xfrm>
          <a:prstGeom prst="rect">
            <a:avLst/>
          </a:prstGeom>
          <a:solidFill>
            <a:srgbClr val="0B2545">
              <a:alpha val="2000"/>
            </a:srgbClr>
          </a:solidFill>
          <a:ln w="9144">
            <a:solidFill>
              <a:srgbClr val="0B2545"/>
            </a:solidFill>
            <a:prstDash val="dash"/>
          </a:ln>
        </p:spPr>
      </p:sp>
      <p:sp>
        <p:nvSpPr>
          <p:cNvPr id="14" name="Text 11"/>
          <p:cNvSpPr/>
          <p:nvPr/>
        </p:nvSpPr>
        <p:spPr>
          <a:xfrm>
            <a:off x="6029325" y="1592275"/>
            <a:ext cx="20574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77F00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ADVERTISING INTELLIGENCE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029325" y="1992325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3315C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High-need sites are high-traffic sites. We license footfall data and take a share of station digital-screen ad revenue.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6029325" y="3081747"/>
            <a:ext cx="2057400" cy="225028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B2545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MODEL: DATA LICENSE / REV SHARE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914400" y="3663962"/>
            <a:ext cx="7315200" cy="50363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914400" y="3663962"/>
            <a:ext cx="7315200" cy="14288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19" name="Text 16"/>
          <p:cNvSpPr/>
          <p:nvPr/>
        </p:nvSpPr>
        <p:spPr>
          <a:xfrm>
            <a:off x="914400" y="3806837"/>
            <a:ext cx="2295544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77F00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TARGET POPULATION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914400" y="3989003"/>
            <a:ext cx="2295544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Underserved Phase-1 Hotspots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352819" y="3806837"/>
            <a:ext cx="2295544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77F00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MODE SHIFT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3352819" y="3989003"/>
            <a:ext cx="2295544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Petrol Bodas → E-Bikes &amp; Buses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791237" y="3806837"/>
            <a:ext cx="2295544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77F00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ALIGNMENT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5791237" y="3989003"/>
            <a:ext cx="2295544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C40 Transport-Emissions Goals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914400" y="4296184"/>
            <a:ext cx="731520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13315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"Every stream monetizes the same core asset — the need-score data — sold to a different buyer for a different decision."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571500"/>
            <a:ext cx="7315200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77F00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12 | OUR ASK &amp; THE TEAM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914400" y="867966"/>
            <a:ext cx="7315200" cy="4114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0B2545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Help us prove Stream 1 first.</a:t>
            </a:r>
            <a:endParaRPr lang="en-US" sz="2450" dirty="0"/>
          </a:p>
        </p:txBody>
      </p:sp>
      <p:sp>
        <p:nvSpPr>
          <p:cNvPr id="5" name="Shape 2"/>
          <p:cNvSpPr/>
          <p:nvPr/>
        </p:nvSpPr>
        <p:spPr>
          <a:xfrm>
            <a:off x="914400" y="1565151"/>
            <a:ext cx="3736181" cy="2667521"/>
          </a:xfrm>
          <a:prstGeom prst="rect">
            <a:avLst/>
          </a:prstGeom>
          <a:solidFill>
            <a:srgbClr val="0B2545">
              <a:alpha val="2000"/>
            </a:srgbClr>
          </a:solidFill>
          <a:ln w="9144">
            <a:solidFill>
              <a:srgbClr val="0B2545"/>
            </a:solidFill>
            <a:prstDash val="dash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150" y="1850901"/>
            <a:ext cx="160734" cy="16430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68041" y="1850901"/>
            <a:ext cx="288964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3315C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Partner-City Match:</a:t>
            </a:r>
            <a:r>
              <a:rPr lang="en-US" sz="1050" dirty="0">
                <a:solidFill>
                  <a:srgbClr val="13315C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 Seeking a city to pilot </a:t>
            </a:r>
            <a:r>
              <a:rPr lang="en-US" sz="1050" dirty="0">
                <a:solidFill>
                  <a:srgbClr val="13315C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our siting model.</a:t>
            </a:r>
            <a:endParaRPr lang="en-US" sz="10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50" y="2429545"/>
            <a:ext cx="128588" cy="16430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435894" y="2429545"/>
            <a:ext cx="292179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3315C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Technical Support:</a:t>
            </a:r>
            <a:r>
              <a:rPr lang="en-US" sz="1050" dirty="0">
                <a:solidFill>
                  <a:srgbClr val="13315C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 Pro-bono GIS and AI </a:t>
            </a:r>
            <a:r>
              <a:rPr lang="en-US" sz="1050" dirty="0">
                <a:solidFill>
                  <a:srgbClr val="13315C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engineering mentorship.</a:t>
            </a:r>
            <a:endParaRPr lang="en-US" sz="10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0150" y="3008188"/>
            <a:ext cx="160734" cy="16430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468041" y="3008188"/>
            <a:ext cx="2889647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3315C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Operator Intros:</a:t>
            </a:r>
            <a:r>
              <a:rPr lang="en-US" sz="1050" dirty="0">
                <a:solidFill>
                  <a:srgbClr val="13315C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 Connections to Nairobi </a:t>
            </a:r>
            <a:r>
              <a:rPr lang="en-US" sz="1050" dirty="0">
                <a:solidFill>
                  <a:srgbClr val="13315C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e-mobility operators (Roam, BasiGo, </a:t>
            </a:r>
            <a:r>
              <a:rPr lang="en-US" sz="1050" dirty="0">
                <a:solidFill>
                  <a:srgbClr val="13315C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Ampersand).</a:t>
            </a:r>
            <a:endParaRPr lang="en-US" sz="1000" dirty="0"/>
          </a:p>
        </p:txBody>
      </p:sp>
      <p:sp>
        <p:nvSpPr>
          <p:cNvPr id="12" name="Text 6"/>
          <p:cNvSpPr/>
          <p:nvPr/>
        </p:nvSpPr>
        <p:spPr>
          <a:xfrm>
            <a:off x="5682853" y="2493838"/>
            <a:ext cx="2857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2545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NAME</a:t>
            </a:r>
            <a:endParaRPr lang="en-US" sz="800" dirty="0"/>
          </a:p>
        </p:txBody>
      </p:sp>
      <p:sp>
        <p:nvSpPr>
          <p:cNvPr id="13" name="Text 7"/>
          <p:cNvSpPr/>
          <p:nvPr/>
        </p:nvSpPr>
        <p:spPr>
          <a:xfrm>
            <a:off x="5481042" y="2665288"/>
            <a:ext cx="68937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3315C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AI / Data Lead</a:t>
            </a:r>
            <a:endParaRPr lang="en-US" sz="750" dirty="0"/>
          </a:p>
        </p:txBody>
      </p:sp>
      <p:sp>
        <p:nvSpPr>
          <p:cNvPr id="14" name="Text 8"/>
          <p:cNvSpPr/>
          <p:nvPr/>
        </p:nvSpPr>
        <p:spPr>
          <a:xfrm>
            <a:off x="7333059" y="2493838"/>
            <a:ext cx="2857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2545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NAME</a:t>
            </a:r>
            <a:endParaRPr lang="en-US" sz="800" dirty="0"/>
          </a:p>
        </p:txBody>
      </p:sp>
      <p:sp>
        <p:nvSpPr>
          <p:cNvPr id="15" name="Text 9"/>
          <p:cNvSpPr/>
          <p:nvPr/>
        </p:nvSpPr>
        <p:spPr>
          <a:xfrm>
            <a:off x="7111603" y="2665288"/>
            <a:ext cx="72866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3315C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Urban Planning</a:t>
            </a:r>
            <a:endParaRPr lang="en-US" sz="750" dirty="0"/>
          </a:p>
        </p:txBody>
      </p:sp>
      <p:sp>
        <p:nvSpPr>
          <p:cNvPr id="16" name="Text 10"/>
          <p:cNvSpPr/>
          <p:nvPr/>
        </p:nvSpPr>
        <p:spPr>
          <a:xfrm>
            <a:off x="5682853" y="3865438"/>
            <a:ext cx="2857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2545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NAME</a:t>
            </a:r>
            <a:endParaRPr lang="en-US" sz="800" dirty="0"/>
          </a:p>
        </p:txBody>
      </p:sp>
      <p:sp>
        <p:nvSpPr>
          <p:cNvPr id="17" name="Text 11"/>
          <p:cNvSpPr/>
          <p:nvPr/>
        </p:nvSpPr>
        <p:spPr>
          <a:xfrm>
            <a:off x="5375672" y="4036888"/>
            <a:ext cx="90011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3315C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Product / Strategy</a:t>
            </a:r>
            <a:endParaRPr lang="en-US" sz="750" dirty="0"/>
          </a:p>
        </p:txBody>
      </p:sp>
      <p:sp>
        <p:nvSpPr>
          <p:cNvPr id="18" name="Text 12"/>
          <p:cNvSpPr/>
          <p:nvPr/>
        </p:nvSpPr>
        <p:spPr>
          <a:xfrm>
            <a:off x="7333059" y="3865438"/>
            <a:ext cx="2857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2545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NAME</a:t>
            </a:r>
            <a:endParaRPr lang="en-US" sz="800" dirty="0"/>
          </a:p>
        </p:txBody>
      </p:sp>
      <p:sp>
        <p:nvSpPr>
          <p:cNvPr id="19" name="Text 13"/>
          <p:cNvSpPr/>
          <p:nvPr/>
        </p:nvSpPr>
        <p:spPr>
          <a:xfrm>
            <a:off x="7154466" y="4036888"/>
            <a:ext cx="64293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3315C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GIS Specialist</a:t>
            </a:r>
            <a:endParaRPr lang="en-US" sz="750" dirty="0"/>
          </a:p>
        </p:txBody>
      </p:sp>
      <p:sp>
        <p:nvSpPr>
          <p:cNvPr id="20" name="Shape 14"/>
          <p:cNvSpPr/>
          <p:nvPr/>
        </p:nvSpPr>
        <p:spPr>
          <a:xfrm>
            <a:off x="914400" y="4232672"/>
            <a:ext cx="7315200" cy="91082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1" name="Shape 15"/>
          <p:cNvSpPr/>
          <p:nvPr/>
        </p:nvSpPr>
        <p:spPr>
          <a:xfrm>
            <a:off x="914400" y="4232672"/>
            <a:ext cx="7315200" cy="7144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22" name="Text 16"/>
          <p:cNvSpPr/>
          <p:nvPr/>
        </p:nvSpPr>
        <p:spPr>
          <a:xfrm>
            <a:off x="914400" y="4232672"/>
            <a:ext cx="7315200" cy="910828"/>
          </a:xfrm>
          <a:prstGeom prst="rect">
            <a:avLst/>
          </a:prstGeom>
          <a:noFill/>
          <a:ln/>
        </p:spPr>
        <p:txBody>
          <a:bodyPr wrap="square" lIns="0" tIns="340233" rIns="0" bIns="510286" rtlCol="0" anchor="t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B2545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Built in Nairobi, </a:t>
            </a:r>
            <a:r>
              <a:rPr lang="en-US" sz="950" dirty="0">
                <a:solidFill>
                  <a:srgbClr val="F77F00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Built for the World.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2026-08-30T15:44:44Z</dcterms:created>
  <dcterms:modified xsi:type="dcterms:W3CDTF">2026-08-30T15:44:44Z</dcterms:modified>
</cp:coreProperties>
</file>