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libri (MS) Bold" panose="020B0604020202020204" charset="0"/>
      <p:regular r:id="rId10"/>
    </p:embeddedFont>
    <p:embeddedFont>
      <p:font typeface="Calibri (MS) Italics" panose="020B0604020202020204" charset="0"/>
      <p:regular r:id="rId11"/>
    </p:embeddedFont>
    <p:embeddedFont>
      <p:font typeface="Cambria Bold" panose="02040803050406030204" pitchFamily="18" charset="0"/>
      <p:bold r:id="rId12"/>
    </p:embeddedFont>
    <p:embeddedFont>
      <p:font typeface="Lora" pitchFamily="2" charset="0"/>
      <p:regular r:id="rId13"/>
    </p:embeddedFont>
    <p:embeddedFont>
      <p:font typeface="Lora Bold" panose="020B0604020202020204" charset="0"/>
      <p:regular r:id="rId14"/>
    </p:embeddedFont>
    <p:embeddedFont>
      <p:font typeface="Lora Italics" panose="020B0604020202020204" charset="0"/>
      <p:regular r:id="rId15"/>
    </p:embeddedFont>
    <p:embeddedFont>
      <p:font typeface="Raleway Bold" panose="020B0604020202020204" charset="0"/>
      <p:regular r:id="rId16"/>
    </p:embeddedFont>
    <p:embeddedFont>
      <p:font typeface="Space Mon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480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8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iscahC/EVSwapp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103" y="8810404"/>
            <a:ext cx="18445103" cy="3659263"/>
          </a:xfrm>
          <a:custGeom>
            <a:avLst/>
            <a:gdLst/>
            <a:ahLst/>
            <a:cxnLst/>
            <a:rect l="l" t="t" r="r" b="b"/>
            <a:pathLst>
              <a:path w="18445103" h="3659263">
                <a:moveTo>
                  <a:pt x="0" y="0"/>
                </a:moveTo>
                <a:lnTo>
                  <a:pt x="18445103" y="0"/>
                </a:lnTo>
                <a:lnTo>
                  <a:pt x="18445103" y="3659262"/>
                </a:lnTo>
                <a:lnTo>
                  <a:pt x="0" y="3659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22" b="-6822"/>
            </a:stretch>
          </a:blipFill>
        </p:spPr>
        <p:txBody>
          <a:bodyPr/>
          <a:lstStyle/>
          <a:p>
            <a:endParaRPr lang="en-KE"/>
          </a:p>
        </p:txBody>
      </p:sp>
      <p:grpSp>
        <p:nvGrpSpPr>
          <p:cNvPr id="3" name="Group 3"/>
          <p:cNvGrpSpPr/>
          <p:nvPr/>
        </p:nvGrpSpPr>
        <p:grpSpPr>
          <a:xfrm>
            <a:off x="12023203" y="6010785"/>
            <a:ext cx="6122093" cy="1945299"/>
            <a:chOff x="0" y="0"/>
            <a:chExt cx="1612403" cy="5123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12403" cy="512342"/>
            </a:xfrm>
            <a:custGeom>
              <a:avLst/>
              <a:gdLst/>
              <a:ahLst/>
              <a:cxnLst/>
              <a:rect l="l" t="t" r="r" b="b"/>
              <a:pathLst>
                <a:path w="1612403" h="512342">
                  <a:moveTo>
                    <a:pt x="126459" y="0"/>
                  </a:moveTo>
                  <a:lnTo>
                    <a:pt x="1485944" y="0"/>
                  </a:lnTo>
                  <a:cubicBezTo>
                    <a:pt x="1555786" y="0"/>
                    <a:pt x="1612403" y="56617"/>
                    <a:pt x="1612403" y="126459"/>
                  </a:cubicBezTo>
                  <a:lnTo>
                    <a:pt x="1612403" y="385883"/>
                  </a:lnTo>
                  <a:cubicBezTo>
                    <a:pt x="1612403" y="419422"/>
                    <a:pt x="1599080" y="451588"/>
                    <a:pt x="1575364" y="475303"/>
                  </a:cubicBezTo>
                  <a:cubicBezTo>
                    <a:pt x="1551649" y="499019"/>
                    <a:pt x="1519483" y="512342"/>
                    <a:pt x="1485944" y="512342"/>
                  </a:cubicBezTo>
                  <a:lnTo>
                    <a:pt x="126459" y="512342"/>
                  </a:lnTo>
                  <a:cubicBezTo>
                    <a:pt x="92920" y="512342"/>
                    <a:pt x="60755" y="499019"/>
                    <a:pt x="37039" y="475303"/>
                  </a:cubicBezTo>
                  <a:cubicBezTo>
                    <a:pt x="13323" y="451588"/>
                    <a:pt x="0" y="419422"/>
                    <a:pt x="0" y="385883"/>
                  </a:cubicBezTo>
                  <a:lnTo>
                    <a:pt x="0" y="126459"/>
                  </a:lnTo>
                  <a:cubicBezTo>
                    <a:pt x="0" y="92920"/>
                    <a:pt x="13323" y="60755"/>
                    <a:pt x="37039" y="37039"/>
                  </a:cubicBezTo>
                  <a:cubicBezTo>
                    <a:pt x="60755" y="13323"/>
                    <a:pt x="92920" y="0"/>
                    <a:pt x="1264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E2411">
                    <a:alpha val="100000"/>
                  </a:srgbClr>
                </a:gs>
                <a:gs pos="100000">
                  <a:srgbClr val="DB7DF7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K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14300"/>
              <a:ext cx="1612403" cy="626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226961" y="2013205"/>
            <a:ext cx="5228361" cy="7245095"/>
            <a:chOff x="0" y="0"/>
            <a:chExt cx="4734560" cy="6560820"/>
          </a:xfrm>
        </p:grpSpPr>
        <p:sp>
          <p:nvSpPr>
            <p:cNvPr id="7" name="Freeform 7"/>
            <p:cNvSpPr/>
            <p:nvPr/>
          </p:nvSpPr>
          <p:spPr>
            <a:xfrm>
              <a:off x="36830" y="50800"/>
              <a:ext cx="4645660" cy="6473190"/>
            </a:xfrm>
            <a:custGeom>
              <a:avLst/>
              <a:gdLst/>
              <a:ahLst/>
              <a:cxnLst/>
              <a:rect l="l" t="t" r="r" b="b"/>
              <a:pathLst>
                <a:path w="4645660" h="647319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16511"/>
              <a:ext cx="4716780" cy="6544310"/>
            </a:xfrm>
            <a:custGeom>
              <a:avLst/>
              <a:gdLst/>
              <a:ahLst/>
              <a:cxnLst/>
              <a:rect l="l" t="t" r="r" b="b"/>
              <a:pathLst>
                <a:path w="4716780" h="654431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565656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9" name="Freeform 9"/>
            <p:cNvSpPr/>
            <p:nvPr/>
          </p:nvSpPr>
          <p:spPr>
            <a:xfrm>
              <a:off x="256540" y="265430"/>
              <a:ext cx="4207510" cy="6043930"/>
            </a:xfrm>
            <a:custGeom>
              <a:avLst/>
              <a:gdLst/>
              <a:ahLst/>
              <a:cxnLst/>
              <a:rect l="l" t="t" r="r" b="b"/>
              <a:pathLst>
                <a:path w="4207510" h="604393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3"/>
              <a:stretch>
                <a:fillRect l="-13810" t="-29735" r="-12334" b="-4567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953089" y="120650"/>
              <a:ext cx="76541" cy="76201"/>
            </a:xfrm>
            <a:custGeom>
              <a:avLst/>
              <a:gdLst/>
              <a:ahLst/>
              <a:cxnLst/>
              <a:rect l="l" t="t" r="r" b="b"/>
              <a:pathLst>
                <a:path w="76541" h="76201">
                  <a:moveTo>
                    <a:pt x="38271" y="0"/>
                  </a:moveTo>
                  <a:cubicBezTo>
                    <a:pt x="24619" y="-61"/>
                    <a:pt x="11977" y="7187"/>
                    <a:pt x="5133" y="19001"/>
                  </a:cubicBezTo>
                  <a:cubicBezTo>
                    <a:pt x="-1711" y="30814"/>
                    <a:pt x="-1711" y="45386"/>
                    <a:pt x="5133" y="57199"/>
                  </a:cubicBezTo>
                  <a:cubicBezTo>
                    <a:pt x="11977" y="69013"/>
                    <a:pt x="24619" y="76261"/>
                    <a:pt x="38271" y="76200"/>
                  </a:cubicBezTo>
                  <a:cubicBezTo>
                    <a:pt x="51923" y="76261"/>
                    <a:pt x="64565" y="69013"/>
                    <a:pt x="71409" y="57199"/>
                  </a:cubicBezTo>
                  <a:cubicBezTo>
                    <a:pt x="78253" y="45386"/>
                    <a:pt x="78253" y="30814"/>
                    <a:pt x="71409" y="19001"/>
                  </a:cubicBezTo>
                  <a:cubicBezTo>
                    <a:pt x="64565" y="7187"/>
                    <a:pt x="51923" y="-61"/>
                    <a:pt x="38271" y="0"/>
                  </a:cubicBezTo>
                  <a:close/>
                </a:path>
              </a:pathLst>
            </a:custGeom>
            <a:solidFill>
              <a:srgbClr val="333333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121925" y="104139"/>
              <a:ext cx="109709" cy="109221"/>
            </a:xfrm>
            <a:custGeom>
              <a:avLst/>
              <a:gdLst/>
              <a:ahLst/>
              <a:cxnLst/>
              <a:rect l="l" t="t" r="r" b="b"/>
              <a:pathLst>
                <a:path w="109709" h="109221">
                  <a:moveTo>
                    <a:pt x="54855" y="1"/>
                  </a:moveTo>
                  <a:cubicBezTo>
                    <a:pt x="35287" y="-87"/>
                    <a:pt x="17167" y="10303"/>
                    <a:pt x="7357" y="27235"/>
                  </a:cubicBezTo>
                  <a:cubicBezTo>
                    <a:pt x="-2452" y="44168"/>
                    <a:pt x="-2452" y="65054"/>
                    <a:pt x="7357" y="81987"/>
                  </a:cubicBezTo>
                  <a:cubicBezTo>
                    <a:pt x="17167" y="98919"/>
                    <a:pt x="35287" y="109309"/>
                    <a:pt x="54855" y="109221"/>
                  </a:cubicBezTo>
                  <a:cubicBezTo>
                    <a:pt x="74423" y="109309"/>
                    <a:pt x="92543" y="98919"/>
                    <a:pt x="102352" y="81987"/>
                  </a:cubicBezTo>
                  <a:cubicBezTo>
                    <a:pt x="112162" y="65054"/>
                    <a:pt x="112162" y="44168"/>
                    <a:pt x="102352" y="27235"/>
                  </a:cubicBezTo>
                  <a:cubicBezTo>
                    <a:pt x="92543" y="10303"/>
                    <a:pt x="74423" y="-87"/>
                    <a:pt x="54855" y="1"/>
                  </a:cubicBezTo>
                  <a:close/>
                </a:path>
              </a:pathLst>
            </a:custGeom>
            <a:solidFill>
              <a:srgbClr val="333333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330313" y="128270"/>
              <a:ext cx="61233" cy="60961"/>
            </a:xfrm>
            <a:custGeom>
              <a:avLst/>
              <a:gdLst/>
              <a:ahLst/>
              <a:cxnLst/>
              <a:rect l="l" t="t" r="r" b="b"/>
              <a:pathLst>
                <a:path w="61233" h="60961">
                  <a:moveTo>
                    <a:pt x="30617" y="0"/>
                  </a:moveTo>
                  <a:cubicBezTo>
                    <a:pt x="19695" y="-49"/>
                    <a:pt x="9582" y="5750"/>
                    <a:pt x="4107" y="15201"/>
                  </a:cubicBezTo>
                  <a:cubicBezTo>
                    <a:pt x="-1369" y="24651"/>
                    <a:pt x="-1369" y="36309"/>
                    <a:pt x="4107" y="45759"/>
                  </a:cubicBezTo>
                  <a:cubicBezTo>
                    <a:pt x="9582" y="55210"/>
                    <a:pt x="19695" y="61009"/>
                    <a:pt x="30617" y="60960"/>
                  </a:cubicBezTo>
                  <a:cubicBezTo>
                    <a:pt x="41539" y="61009"/>
                    <a:pt x="51652" y="55210"/>
                    <a:pt x="57127" y="45759"/>
                  </a:cubicBezTo>
                  <a:cubicBezTo>
                    <a:pt x="62602" y="36309"/>
                    <a:pt x="62602" y="24651"/>
                    <a:pt x="57127" y="15201"/>
                  </a:cubicBezTo>
                  <a:cubicBezTo>
                    <a:pt x="51652" y="5750"/>
                    <a:pt x="41539" y="-49"/>
                    <a:pt x="30617" y="0"/>
                  </a:cubicBezTo>
                  <a:close/>
                </a:path>
              </a:pathLst>
            </a:custGeom>
            <a:solidFill>
              <a:srgbClr val="333333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346897" y="144780"/>
              <a:ext cx="28065" cy="27940"/>
            </a:xfrm>
            <a:custGeom>
              <a:avLst/>
              <a:gdLst/>
              <a:ahLst/>
              <a:cxnLst/>
              <a:rect l="l" t="t" r="r" b="b"/>
              <a:pathLst>
                <a:path w="28065" h="27940">
                  <a:moveTo>
                    <a:pt x="14033" y="0"/>
                  </a:moveTo>
                  <a:cubicBezTo>
                    <a:pt x="9027" y="-22"/>
                    <a:pt x="4392" y="2635"/>
                    <a:pt x="1882" y="6967"/>
                  </a:cubicBezTo>
                  <a:cubicBezTo>
                    <a:pt x="-627" y="11298"/>
                    <a:pt x="-627" y="16642"/>
                    <a:pt x="1882" y="20973"/>
                  </a:cubicBezTo>
                  <a:cubicBezTo>
                    <a:pt x="4392" y="25305"/>
                    <a:pt x="9027" y="27962"/>
                    <a:pt x="14033" y="27940"/>
                  </a:cubicBezTo>
                  <a:cubicBezTo>
                    <a:pt x="19039" y="27962"/>
                    <a:pt x="23674" y="25305"/>
                    <a:pt x="26184" y="20973"/>
                  </a:cubicBezTo>
                  <a:cubicBezTo>
                    <a:pt x="28693" y="16642"/>
                    <a:pt x="28693" y="11298"/>
                    <a:pt x="26184" y="6967"/>
                  </a:cubicBezTo>
                  <a:cubicBezTo>
                    <a:pt x="23674" y="2635"/>
                    <a:pt x="19039" y="-22"/>
                    <a:pt x="14033" y="0"/>
                  </a:cubicBezTo>
                  <a:close/>
                </a:path>
              </a:pathLst>
            </a:custGeom>
            <a:solidFill>
              <a:srgbClr val="E9E8E9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344386" y="144780"/>
              <a:ext cx="15308" cy="15240"/>
            </a:xfrm>
            <a:custGeom>
              <a:avLst/>
              <a:gdLst/>
              <a:ahLst/>
              <a:cxnLst/>
              <a:rect l="l" t="t" r="r" b="b"/>
              <a:pathLst>
                <a:path w="15308" h="15240">
                  <a:moveTo>
                    <a:pt x="7654" y="0"/>
                  </a:moveTo>
                  <a:cubicBezTo>
                    <a:pt x="4924" y="-12"/>
                    <a:pt x="2395" y="1437"/>
                    <a:pt x="1026" y="3800"/>
                  </a:cubicBezTo>
                  <a:cubicBezTo>
                    <a:pt x="-342" y="6163"/>
                    <a:pt x="-342" y="9077"/>
                    <a:pt x="1026" y="11440"/>
                  </a:cubicBezTo>
                  <a:cubicBezTo>
                    <a:pt x="2395" y="13803"/>
                    <a:pt x="4924" y="15252"/>
                    <a:pt x="7654" y="15240"/>
                  </a:cubicBezTo>
                  <a:cubicBezTo>
                    <a:pt x="10384" y="15252"/>
                    <a:pt x="12913" y="13803"/>
                    <a:pt x="14281" y="11440"/>
                  </a:cubicBezTo>
                  <a:cubicBezTo>
                    <a:pt x="15650" y="9077"/>
                    <a:pt x="15650" y="6163"/>
                    <a:pt x="14281" y="3800"/>
                  </a:cubicBezTo>
                  <a:cubicBezTo>
                    <a:pt x="12913" y="1437"/>
                    <a:pt x="10384" y="-12"/>
                    <a:pt x="7654" y="0"/>
                  </a:cubicBezTo>
                  <a:close/>
                </a:path>
              </a:pathLst>
            </a:custGeom>
            <a:solidFill>
              <a:srgbClr val="010101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4716780" y="534670"/>
              <a:ext cx="16622" cy="278130"/>
            </a:xfrm>
            <a:custGeom>
              <a:avLst/>
              <a:gdLst/>
              <a:ahLst/>
              <a:cxnLst/>
              <a:rect l="l" t="t" r="r" b="b"/>
              <a:pathLst>
                <a:path w="16622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4716780" y="861060"/>
              <a:ext cx="16622" cy="278130"/>
            </a:xfrm>
            <a:custGeom>
              <a:avLst/>
              <a:gdLst/>
              <a:ahLst/>
              <a:cxnLst/>
              <a:rect l="l" t="t" r="r" b="b"/>
              <a:pathLst>
                <a:path w="16622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064000" y="-113"/>
              <a:ext cx="320040" cy="16623"/>
            </a:xfrm>
            <a:custGeom>
              <a:avLst/>
              <a:gdLst/>
              <a:ahLst/>
              <a:cxnLst/>
              <a:rect l="l" t="t" r="r" b="b"/>
              <a:pathLst>
                <a:path w="320040" h="16623">
                  <a:moveTo>
                    <a:pt x="0" y="16623"/>
                  </a:moveTo>
                  <a:lnTo>
                    <a:pt x="320040" y="16623"/>
                  </a:lnTo>
                  <a:cubicBezTo>
                    <a:pt x="320040" y="-2427"/>
                    <a:pt x="304800" y="113"/>
                    <a:pt x="285750" y="113"/>
                  </a:cubicBezTo>
                  <a:lnTo>
                    <a:pt x="34290" y="113"/>
                  </a:lnTo>
                  <a:cubicBezTo>
                    <a:pt x="15240" y="113"/>
                    <a:pt x="0" y="-2427"/>
                    <a:pt x="0" y="16623"/>
                  </a:cubicBezTo>
                  <a:close/>
                </a:path>
              </a:pathLst>
            </a:custGeom>
            <a:solidFill>
              <a:srgbClr val="424242"/>
            </a:solidFill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332200" y="1444081"/>
            <a:ext cx="11820645" cy="0"/>
          </a:xfrm>
          <a:prstGeom prst="line">
            <a:avLst/>
          </a:prstGeom>
          <a:ln w="38100" cap="flat">
            <a:solidFill>
              <a:srgbClr val="FFA53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KE"/>
          </a:p>
        </p:txBody>
      </p:sp>
      <p:grpSp>
        <p:nvGrpSpPr>
          <p:cNvPr id="19" name="Group 19"/>
          <p:cNvGrpSpPr/>
          <p:nvPr/>
        </p:nvGrpSpPr>
        <p:grpSpPr>
          <a:xfrm>
            <a:off x="-2072132" y="2513414"/>
            <a:ext cx="9651102" cy="1945299"/>
            <a:chOff x="0" y="0"/>
            <a:chExt cx="2541854" cy="5123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41854" cy="512342"/>
            </a:xfrm>
            <a:custGeom>
              <a:avLst/>
              <a:gdLst/>
              <a:ahLst/>
              <a:cxnLst/>
              <a:rect l="l" t="t" r="r" b="b"/>
              <a:pathLst>
                <a:path w="2541854" h="512342">
                  <a:moveTo>
                    <a:pt x="80218" y="0"/>
                  </a:moveTo>
                  <a:lnTo>
                    <a:pt x="2461636" y="0"/>
                  </a:lnTo>
                  <a:cubicBezTo>
                    <a:pt x="2505939" y="0"/>
                    <a:pt x="2541854" y="35915"/>
                    <a:pt x="2541854" y="80218"/>
                  </a:cubicBezTo>
                  <a:lnTo>
                    <a:pt x="2541854" y="432124"/>
                  </a:lnTo>
                  <a:cubicBezTo>
                    <a:pt x="2541854" y="453399"/>
                    <a:pt x="2533403" y="473803"/>
                    <a:pt x="2518359" y="488847"/>
                  </a:cubicBezTo>
                  <a:cubicBezTo>
                    <a:pt x="2503315" y="503891"/>
                    <a:pt x="2482911" y="512342"/>
                    <a:pt x="2461636" y="512342"/>
                  </a:cubicBezTo>
                  <a:lnTo>
                    <a:pt x="80218" y="512342"/>
                  </a:lnTo>
                  <a:cubicBezTo>
                    <a:pt x="58943" y="512342"/>
                    <a:pt x="38539" y="503891"/>
                    <a:pt x="23495" y="488847"/>
                  </a:cubicBezTo>
                  <a:cubicBezTo>
                    <a:pt x="8452" y="473803"/>
                    <a:pt x="0" y="453399"/>
                    <a:pt x="0" y="432124"/>
                  </a:cubicBezTo>
                  <a:lnTo>
                    <a:pt x="0" y="80218"/>
                  </a:lnTo>
                  <a:cubicBezTo>
                    <a:pt x="0" y="58943"/>
                    <a:pt x="8452" y="38539"/>
                    <a:pt x="23495" y="23495"/>
                  </a:cubicBezTo>
                  <a:cubicBezTo>
                    <a:pt x="38539" y="8452"/>
                    <a:pt x="58943" y="0"/>
                    <a:pt x="8021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112E">
                    <a:alpha val="100000"/>
                  </a:srgbClr>
                </a:gs>
                <a:gs pos="50000">
                  <a:srgbClr val="A6713A">
                    <a:alpha val="100000"/>
                  </a:srgbClr>
                </a:gs>
                <a:gs pos="100000">
                  <a:srgbClr val="DB7DF7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KE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14300"/>
              <a:ext cx="2541854" cy="626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8508137" y="4747596"/>
            <a:ext cx="762254" cy="1361169"/>
          </a:xfrm>
          <a:custGeom>
            <a:avLst/>
            <a:gdLst/>
            <a:ahLst/>
            <a:cxnLst/>
            <a:rect l="l" t="t" r="r" b="b"/>
            <a:pathLst>
              <a:path w="762254" h="1361169">
                <a:moveTo>
                  <a:pt x="0" y="0"/>
                </a:moveTo>
                <a:lnTo>
                  <a:pt x="762255" y="0"/>
                </a:lnTo>
                <a:lnTo>
                  <a:pt x="762255" y="1361168"/>
                </a:lnTo>
                <a:lnTo>
                  <a:pt x="0" y="1361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KE"/>
          </a:p>
        </p:txBody>
      </p:sp>
      <p:grpSp>
        <p:nvGrpSpPr>
          <p:cNvPr id="23" name="Group 23"/>
          <p:cNvGrpSpPr/>
          <p:nvPr/>
        </p:nvGrpSpPr>
        <p:grpSpPr>
          <a:xfrm>
            <a:off x="1256018" y="1232996"/>
            <a:ext cx="422197" cy="42219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7000" y="12700"/>
              <a:ext cx="558800" cy="67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29986" y="2823640"/>
            <a:ext cx="8293486" cy="1573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sz="12000" b="1">
                <a:solidFill>
                  <a:srgbClr val="FFA53D"/>
                </a:solidFill>
                <a:latin typeface="Raleway Bold"/>
                <a:ea typeface="Raleway Bold"/>
                <a:cs typeface="Raleway Bold"/>
                <a:sym typeface="Raleway Bold"/>
              </a:rPr>
              <a:t>EV</a:t>
            </a:r>
            <a:r>
              <a:rPr lang="en-US" sz="12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SWAPP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5361505"/>
            <a:ext cx="6129597" cy="1021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Real-time charge intelligence for EV drivers in Nairobi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455322" y="1182132"/>
            <a:ext cx="189679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Demonstration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05019" y="1182132"/>
            <a:ext cx="144640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AIxCITY 14C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3186" y="7856658"/>
            <a:ext cx="6122093" cy="830352"/>
            <a:chOff x="0" y="0"/>
            <a:chExt cx="1612403" cy="2186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12403" cy="218693"/>
            </a:xfrm>
            <a:custGeom>
              <a:avLst/>
              <a:gdLst/>
              <a:ahLst/>
              <a:cxnLst/>
              <a:rect l="l" t="t" r="r" b="b"/>
              <a:pathLst>
                <a:path w="1612403" h="218693">
                  <a:moveTo>
                    <a:pt x="109347" y="0"/>
                  </a:moveTo>
                  <a:lnTo>
                    <a:pt x="1503056" y="0"/>
                  </a:lnTo>
                  <a:cubicBezTo>
                    <a:pt x="1563447" y="0"/>
                    <a:pt x="1612403" y="48956"/>
                    <a:pt x="1612403" y="109347"/>
                  </a:cubicBezTo>
                  <a:lnTo>
                    <a:pt x="1612403" y="109347"/>
                  </a:lnTo>
                  <a:cubicBezTo>
                    <a:pt x="1612403" y="138347"/>
                    <a:pt x="1600883" y="166160"/>
                    <a:pt x="1580376" y="186667"/>
                  </a:cubicBezTo>
                  <a:cubicBezTo>
                    <a:pt x="1559870" y="207173"/>
                    <a:pt x="1532057" y="218693"/>
                    <a:pt x="1503056" y="218693"/>
                  </a:cubicBezTo>
                  <a:lnTo>
                    <a:pt x="109347" y="218693"/>
                  </a:lnTo>
                  <a:cubicBezTo>
                    <a:pt x="80346" y="218693"/>
                    <a:pt x="52533" y="207173"/>
                    <a:pt x="32027" y="186667"/>
                  </a:cubicBezTo>
                  <a:cubicBezTo>
                    <a:pt x="11520" y="166160"/>
                    <a:pt x="0" y="138347"/>
                    <a:pt x="0" y="109347"/>
                  </a:cubicBezTo>
                  <a:lnTo>
                    <a:pt x="0" y="109347"/>
                  </a:lnTo>
                  <a:cubicBezTo>
                    <a:pt x="0" y="80346"/>
                    <a:pt x="11520" y="52533"/>
                    <a:pt x="32027" y="32027"/>
                  </a:cubicBezTo>
                  <a:cubicBezTo>
                    <a:pt x="52533" y="11520"/>
                    <a:pt x="80346" y="0"/>
                    <a:pt x="10934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112E">
                    <a:alpha val="100000"/>
                  </a:srgbClr>
                </a:gs>
                <a:gs pos="50000">
                  <a:srgbClr val="A6713A">
                    <a:alpha val="100000"/>
                  </a:srgbClr>
                </a:gs>
                <a:gs pos="100000">
                  <a:srgbClr val="DB7DF7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14300"/>
              <a:ext cx="1612403" cy="332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30457" y="0"/>
            <a:ext cx="3787635" cy="7508170"/>
            <a:chOff x="0" y="0"/>
            <a:chExt cx="586804" cy="11632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86804" cy="1163212"/>
            </a:xfrm>
            <a:custGeom>
              <a:avLst/>
              <a:gdLst/>
              <a:ahLst/>
              <a:cxnLst/>
              <a:rect l="l" t="t" r="r" b="b"/>
              <a:pathLst>
                <a:path w="586804" h="1163212">
                  <a:moveTo>
                    <a:pt x="40880" y="0"/>
                  </a:moveTo>
                  <a:lnTo>
                    <a:pt x="545924" y="0"/>
                  </a:lnTo>
                  <a:cubicBezTo>
                    <a:pt x="568501" y="0"/>
                    <a:pt x="586804" y="18303"/>
                    <a:pt x="586804" y="40880"/>
                  </a:cubicBezTo>
                  <a:lnTo>
                    <a:pt x="586804" y="1122332"/>
                  </a:lnTo>
                  <a:cubicBezTo>
                    <a:pt x="586804" y="1133174"/>
                    <a:pt x="582497" y="1143572"/>
                    <a:pt x="574830" y="1151238"/>
                  </a:cubicBezTo>
                  <a:cubicBezTo>
                    <a:pt x="567164" y="1158905"/>
                    <a:pt x="556766" y="1163212"/>
                    <a:pt x="545924" y="1163212"/>
                  </a:cubicBezTo>
                  <a:lnTo>
                    <a:pt x="40880" y="1163212"/>
                  </a:lnTo>
                  <a:cubicBezTo>
                    <a:pt x="30038" y="1163212"/>
                    <a:pt x="19640" y="1158905"/>
                    <a:pt x="11973" y="1151238"/>
                  </a:cubicBezTo>
                  <a:cubicBezTo>
                    <a:pt x="4307" y="1143572"/>
                    <a:pt x="0" y="1133174"/>
                    <a:pt x="0" y="1122332"/>
                  </a:cubicBezTo>
                  <a:lnTo>
                    <a:pt x="0" y="40880"/>
                  </a:lnTo>
                  <a:cubicBezTo>
                    <a:pt x="0" y="30038"/>
                    <a:pt x="4307" y="19640"/>
                    <a:pt x="11973" y="11973"/>
                  </a:cubicBezTo>
                  <a:cubicBezTo>
                    <a:pt x="19640" y="4307"/>
                    <a:pt x="30038" y="0"/>
                    <a:pt x="40880" y="0"/>
                  </a:cubicBezTo>
                  <a:close/>
                </a:path>
              </a:pathLst>
            </a:custGeom>
            <a:blipFill>
              <a:blip r:embed="rId2"/>
              <a:stretch>
                <a:fillRect l="-5596" t="-6021" r="-6654" b="-7088"/>
              </a:stretch>
            </a:blipFill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1107420" y="483121"/>
            <a:ext cx="4687109" cy="891846"/>
            <a:chOff x="0" y="0"/>
            <a:chExt cx="1234465" cy="2348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34465" cy="234889"/>
            </a:xfrm>
            <a:custGeom>
              <a:avLst/>
              <a:gdLst/>
              <a:ahLst/>
              <a:cxnLst/>
              <a:rect l="l" t="t" r="r" b="b"/>
              <a:pathLst>
                <a:path w="1234465" h="234889">
                  <a:moveTo>
                    <a:pt x="117445" y="0"/>
                  </a:moveTo>
                  <a:lnTo>
                    <a:pt x="1117020" y="0"/>
                  </a:lnTo>
                  <a:cubicBezTo>
                    <a:pt x="1148168" y="0"/>
                    <a:pt x="1178041" y="12374"/>
                    <a:pt x="1200066" y="34399"/>
                  </a:cubicBezTo>
                  <a:cubicBezTo>
                    <a:pt x="1222091" y="56424"/>
                    <a:pt x="1234465" y="86296"/>
                    <a:pt x="1234465" y="117445"/>
                  </a:cubicBezTo>
                  <a:lnTo>
                    <a:pt x="1234465" y="117445"/>
                  </a:lnTo>
                  <a:cubicBezTo>
                    <a:pt x="1234465" y="148593"/>
                    <a:pt x="1222091" y="178465"/>
                    <a:pt x="1200066" y="200491"/>
                  </a:cubicBezTo>
                  <a:cubicBezTo>
                    <a:pt x="1178041" y="222516"/>
                    <a:pt x="1148168" y="234889"/>
                    <a:pt x="1117020" y="234889"/>
                  </a:cubicBezTo>
                  <a:lnTo>
                    <a:pt x="117445" y="234889"/>
                  </a:lnTo>
                  <a:cubicBezTo>
                    <a:pt x="86296" y="234889"/>
                    <a:pt x="56424" y="222516"/>
                    <a:pt x="34399" y="200491"/>
                  </a:cubicBezTo>
                  <a:cubicBezTo>
                    <a:pt x="12374" y="178465"/>
                    <a:pt x="0" y="148593"/>
                    <a:pt x="0" y="117445"/>
                  </a:cubicBezTo>
                  <a:lnTo>
                    <a:pt x="0" y="117445"/>
                  </a:lnTo>
                  <a:cubicBezTo>
                    <a:pt x="0" y="86296"/>
                    <a:pt x="12374" y="56424"/>
                    <a:pt x="34399" y="34399"/>
                  </a:cubicBezTo>
                  <a:cubicBezTo>
                    <a:pt x="56424" y="12374"/>
                    <a:pt x="86296" y="0"/>
                    <a:pt x="11744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112E">
                    <a:alpha val="100000"/>
                  </a:srgbClr>
                </a:gs>
                <a:gs pos="50000">
                  <a:srgbClr val="A6713A">
                    <a:alpha val="100000"/>
                  </a:srgbClr>
                </a:gs>
                <a:gs pos="100000">
                  <a:srgbClr val="DB7DF7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K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14300"/>
              <a:ext cx="1234465" cy="349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1750130"/>
            <a:ext cx="3615598" cy="7508170"/>
            <a:chOff x="0" y="0"/>
            <a:chExt cx="560151" cy="11632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0151" cy="1163212"/>
            </a:xfrm>
            <a:custGeom>
              <a:avLst/>
              <a:gdLst/>
              <a:ahLst/>
              <a:cxnLst/>
              <a:rect l="l" t="t" r="r" b="b"/>
              <a:pathLst>
                <a:path w="560151" h="1163212">
                  <a:moveTo>
                    <a:pt x="42825" y="0"/>
                  </a:moveTo>
                  <a:lnTo>
                    <a:pt x="517326" y="0"/>
                  </a:lnTo>
                  <a:cubicBezTo>
                    <a:pt x="540977" y="0"/>
                    <a:pt x="560151" y="19173"/>
                    <a:pt x="560151" y="42825"/>
                  </a:cubicBezTo>
                  <a:lnTo>
                    <a:pt x="560151" y="1120387"/>
                  </a:lnTo>
                  <a:cubicBezTo>
                    <a:pt x="560151" y="1131745"/>
                    <a:pt x="555639" y="1142638"/>
                    <a:pt x="547608" y="1150669"/>
                  </a:cubicBezTo>
                  <a:cubicBezTo>
                    <a:pt x="539576" y="1158700"/>
                    <a:pt x="528684" y="1163212"/>
                    <a:pt x="517326" y="1163212"/>
                  </a:cubicBezTo>
                  <a:lnTo>
                    <a:pt x="42825" y="1163212"/>
                  </a:lnTo>
                  <a:cubicBezTo>
                    <a:pt x="31467" y="1163212"/>
                    <a:pt x="20574" y="1158700"/>
                    <a:pt x="12543" y="1150669"/>
                  </a:cubicBezTo>
                  <a:cubicBezTo>
                    <a:pt x="4512" y="1142638"/>
                    <a:pt x="0" y="1131745"/>
                    <a:pt x="0" y="1120387"/>
                  </a:cubicBezTo>
                  <a:lnTo>
                    <a:pt x="0" y="42825"/>
                  </a:lnTo>
                  <a:cubicBezTo>
                    <a:pt x="0" y="31467"/>
                    <a:pt x="4512" y="20574"/>
                    <a:pt x="12543" y="12543"/>
                  </a:cubicBezTo>
                  <a:cubicBezTo>
                    <a:pt x="20574" y="4512"/>
                    <a:pt x="31467" y="0"/>
                    <a:pt x="42825" y="0"/>
                  </a:cubicBezTo>
                  <a:close/>
                </a:path>
              </a:pathLst>
            </a:custGeom>
            <a:blipFill>
              <a:blip r:embed="rId3"/>
              <a:stretch>
                <a:fillRect l="-7844" t="-5639" r="-8635" b="-6400"/>
              </a:stretch>
            </a:blipFill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12" name="Freeform 12"/>
          <p:cNvSpPr/>
          <p:nvPr/>
        </p:nvSpPr>
        <p:spPr>
          <a:xfrm>
            <a:off x="-157103" y="8810404"/>
            <a:ext cx="18445103" cy="3659263"/>
          </a:xfrm>
          <a:custGeom>
            <a:avLst/>
            <a:gdLst/>
            <a:ahLst/>
            <a:cxnLst/>
            <a:rect l="l" t="t" r="r" b="b"/>
            <a:pathLst>
              <a:path w="18445103" h="3659263">
                <a:moveTo>
                  <a:pt x="0" y="0"/>
                </a:moveTo>
                <a:lnTo>
                  <a:pt x="18445103" y="0"/>
                </a:lnTo>
                <a:lnTo>
                  <a:pt x="18445103" y="3659262"/>
                </a:lnTo>
                <a:lnTo>
                  <a:pt x="0" y="3659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822" b="-6822"/>
            </a:stretch>
          </a:blipFill>
        </p:spPr>
        <p:txBody>
          <a:bodyPr/>
          <a:lstStyle/>
          <a:p>
            <a:endParaRPr lang="en-KE"/>
          </a:p>
        </p:txBody>
      </p:sp>
      <p:sp>
        <p:nvSpPr>
          <p:cNvPr id="13" name="Freeform 13"/>
          <p:cNvSpPr/>
          <p:nvPr/>
        </p:nvSpPr>
        <p:spPr>
          <a:xfrm>
            <a:off x="9889859" y="4094810"/>
            <a:ext cx="564437" cy="1007923"/>
          </a:xfrm>
          <a:custGeom>
            <a:avLst/>
            <a:gdLst/>
            <a:ahLst/>
            <a:cxnLst/>
            <a:rect l="l" t="t" r="r" b="b"/>
            <a:pathLst>
              <a:path w="564437" h="1007923">
                <a:moveTo>
                  <a:pt x="0" y="0"/>
                </a:moveTo>
                <a:lnTo>
                  <a:pt x="564437" y="0"/>
                </a:lnTo>
                <a:lnTo>
                  <a:pt x="564437" y="1007923"/>
                </a:lnTo>
                <a:lnTo>
                  <a:pt x="0" y="1007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KE"/>
          </a:p>
        </p:txBody>
      </p:sp>
      <p:grpSp>
        <p:nvGrpSpPr>
          <p:cNvPr id="14" name="Group 14"/>
          <p:cNvGrpSpPr/>
          <p:nvPr/>
        </p:nvGrpSpPr>
        <p:grpSpPr>
          <a:xfrm>
            <a:off x="15431429" y="483121"/>
            <a:ext cx="4687109" cy="891846"/>
            <a:chOff x="0" y="0"/>
            <a:chExt cx="1234465" cy="23488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34465" cy="234889"/>
            </a:xfrm>
            <a:custGeom>
              <a:avLst/>
              <a:gdLst/>
              <a:ahLst/>
              <a:cxnLst/>
              <a:rect l="l" t="t" r="r" b="b"/>
              <a:pathLst>
                <a:path w="1234465" h="234889">
                  <a:moveTo>
                    <a:pt x="117445" y="0"/>
                  </a:moveTo>
                  <a:lnTo>
                    <a:pt x="1117020" y="0"/>
                  </a:lnTo>
                  <a:cubicBezTo>
                    <a:pt x="1148168" y="0"/>
                    <a:pt x="1178041" y="12374"/>
                    <a:pt x="1200066" y="34399"/>
                  </a:cubicBezTo>
                  <a:cubicBezTo>
                    <a:pt x="1222091" y="56424"/>
                    <a:pt x="1234465" y="86296"/>
                    <a:pt x="1234465" y="117445"/>
                  </a:cubicBezTo>
                  <a:lnTo>
                    <a:pt x="1234465" y="117445"/>
                  </a:lnTo>
                  <a:cubicBezTo>
                    <a:pt x="1234465" y="148593"/>
                    <a:pt x="1222091" y="178465"/>
                    <a:pt x="1200066" y="200491"/>
                  </a:cubicBezTo>
                  <a:cubicBezTo>
                    <a:pt x="1178041" y="222516"/>
                    <a:pt x="1148168" y="234889"/>
                    <a:pt x="1117020" y="234889"/>
                  </a:cubicBezTo>
                  <a:lnTo>
                    <a:pt x="117445" y="234889"/>
                  </a:lnTo>
                  <a:cubicBezTo>
                    <a:pt x="86296" y="234889"/>
                    <a:pt x="56424" y="222516"/>
                    <a:pt x="34399" y="200491"/>
                  </a:cubicBezTo>
                  <a:cubicBezTo>
                    <a:pt x="12374" y="178465"/>
                    <a:pt x="0" y="148593"/>
                    <a:pt x="0" y="117445"/>
                  </a:cubicBezTo>
                  <a:lnTo>
                    <a:pt x="0" y="117445"/>
                  </a:lnTo>
                  <a:cubicBezTo>
                    <a:pt x="0" y="86296"/>
                    <a:pt x="12374" y="56424"/>
                    <a:pt x="34399" y="34399"/>
                  </a:cubicBezTo>
                  <a:cubicBezTo>
                    <a:pt x="56424" y="12374"/>
                    <a:pt x="86296" y="0"/>
                    <a:pt x="11744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7112E">
                    <a:alpha val="100000"/>
                  </a:srgbClr>
                </a:gs>
                <a:gs pos="50000">
                  <a:srgbClr val="A6713A">
                    <a:alpha val="100000"/>
                  </a:srgbClr>
                </a:gs>
                <a:gs pos="100000">
                  <a:srgbClr val="DB7DF7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K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14300"/>
              <a:ext cx="1234465" cy="349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889859" y="6230929"/>
            <a:ext cx="564437" cy="1007923"/>
          </a:xfrm>
          <a:custGeom>
            <a:avLst/>
            <a:gdLst/>
            <a:ahLst/>
            <a:cxnLst/>
            <a:rect l="l" t="t" r="r" b="b"/>
            <a:pathLst>
              <a:path w="564437" h="1007923">
                <a:moveTo>
                  <a:pt x="0" y="0"/>
                </a:moveTo>
                <a:lnTo>
                  <a:pt x="564437" y="0"/>
                </a:lnTo>
                <a:lnTo>
                  <a:pt x="564437" y="1007922"/>
                </a:lnTo>
                <a:lnTo>
                  <a:pt x="0" y="1007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Box 18"/>
          <p:cNvSpPr txBox="1"/>
          <p:nvPr/>
        </p:nvSpPr>
        <p:spPr>
          <a:xfrm>
            <a:off x="9792611" y="1673408"/>
            <a:ext cx="6784389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FFA53D"/>
                </a:solidFill>
                <a:latin typeface="Raleway Bold"/>
                <a:ea typeface="Raleway Bold"/>
                <a:cs typeface="Raleway Bold"/>
                <a:sym typeface="Raleway Bold"/>
              </a:rPr>
              <a:t>EV</a:t>
            </a:r>
            <a:r>
              <a:rPr lang="en-US" sz="6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Swapp Product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44821" y="3732949"/>
            <a:ext cx="6054522" cy="158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Simulates a driver's live battery, route, and position and recommends the single best charging or swap point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44821" y="5597605"/>
            <a:ext cx="6054522" cy="2131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 range anxiety accelerates EV adoption, and better-informed charging behaviour eases pressure on an already uneven grid.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0177" y="4107997"/>
            <a:ext cx="6021324" cy="2124456"/>
            <a:chOff x="0" y="0"/>
            <a:chExt cx="8028432" cy="28326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28432" cy="2832608"/>
            </a:xfrm>
            <a:custGeom>
              <a:avLst/>
              <a:gdLst/>
              <a:ahLst/>
              <a:cxnLst/>
              <a:rect l="l" t="t" r="r" b="b"/>
              <a:pathLst>
                <a:path w="8028432" h="2832608">
                  <a:moveTo>
                    <a:pt x="0" y="0"/>
                  </a:moveTo>
                  <a:lnTo>
                    <a:pt x="8028432" y="0"/>
                  </a:lnTo>
                  <a:lnTo>
                    <a:pt x="8028432" y="2832608"/>
                  </a:lnTo>
                  <a:lnTo>
                    <a:pt x="0" y="28326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2073" r="-161959" b="-67266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8028432" cy="2842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7200"/>
                </a:lnSpc>
                <a:spcBef>
                  <a:spcPct val="0"/>
                </a:spcBef>
              </a:pPr>
              <a:r>
                <a:rPr lang="en-US" sz="6000" b="1" u="none" strike="noStrike" dirty="0">
                  <a:solidFill>
                    <a:srgbClr val="FFFFFF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Core Demo - Live Interaction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687300" y="2331720"/>
            <a:ext cx="493776" cy="493776"/>
            <a:chOff x="0" y="0"/>
            <a:chExt cx="658368" cy="6583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687300" y="2331720"/>
            <a:ext cx="493776" cy="493776"/>
            <a:chOff x="0" y="0"/>
            <a:chExt cx="658368" cy="6583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73100" y="2304288"/>
            <a:ext cx="3977640" cy="548640"/>
            <a:chOff x="0" y="0"/>
            <a:chExt cx="530352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03520" cy="731520"/>
            </a:xfrm>
            <a:custGeom>
              <a:avLst/>
              <a:gdLst/>
              <a:ahLst/>
              <a:cxnLst/>
              <a:rect l="l" t="t" r="r" b="b"/>
              <a:pathLst>
                <a:path w="5303520" h="731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266" b="-91266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5303520" cy="874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Start Drive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687300" y="3264408"/>
            <a:ext cx="493776" cy="493776"/>
            <a:chOff x="0" y="0"/>
            <a:chExt cx="658368" cy="6583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12273" y="3951013"/>
            <a:ext cx="1495074" cy="1495074"/>
            <a:chOff x="0" y="0"/>
            <a:chExt cx="658368" cy="6583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373100" y="3236976"/>
            <a:ext cx="3977640" cy="548640"/>
            <a:chOff x="0" y="0"/>
            <a:chExt cx="530352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303520" cy="731520"/>
            </a:xfrm>
            <a:custGeom>
              <a:avLst/>
              <a:gdLst/>
              <a:ahLst/>
              <a:cxnLst/>
              <a:rect l="l" t="t" r="r" b="b"/>
              <a:pathLst>
                <a:path w="5303520" h="731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266" b="-91266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42875"/>
              <a:ext cx="5303520" cy="874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2400" u="none" strike="noStrike" dirty="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SoC draining live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687300" y="4197096"/>
            <a:ext cx="493776" cy="493776"/>
            <a:chOff x="0" y="0"/>
            <a:chExt cx="658368" cy="6583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687300" y="4197096"/>
            <a:ext cx="493776" cy="493776"/>
            <a:chOff x="0" y="0"/>
            <a:chExt cx="658368" cy="65836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373100" y="4169664"/>
            <a:ext cx="3977640" cy="548640"/>
            <a:chOff x="0" y="0"/>
            <a:chExt cx="5303520" cy="7315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03520" cy="731520"/>
            </a:xfrm>
            <a:custGeom>
              <a:avLst/>
              <a:gdLst/>
              <a:ahLst/>
              <a:cxnLst/>
              <a:rect l="l" t="t" r="r" b="b"/>
              <a:pathLst>
                <a:path w="5303520" h="731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266" b="-91266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42875"/>
              <a:ext cx="5303520" cy="874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AI Copilot feature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687300" y="5129784"/>
            <a:ext cx="493776" cy="493776"/>
            <a:chOff x="0" y="0"/>
            <a:chExt cx="658368" cy="65836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687300" y="5129784"/>
            <a:ext cx="493776" cy="493776"/>
            <a:chOff x="0" y="0"/>
            <a:chExt cx="658368" cy="65836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373100" y="5102352"/>
            <a:ext cx="3977640" cy="548640"/>
            <a:chOff x="0" y="0"/>
            <a:chExt cx="530352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03520" cy="731520"/>
            </a:xfrm>
            <a:custGeom>
              <a:avLst/>
              <a:gdLst/>
              <a:ahLst/>
              <a:cxnLst/>
              <a:rect l="l" t="t" r="r" b="b"/>
              <a:pathLst>
                <a:path w="5303520" h="731520">
                  <a:moveTo>
                    <a:pt x="0" y="0"/>
                  </a:moveTo>
                  <a:lnTo>
                    <a:pt x="5303520" y="0"/>
                  </a:lnTo>
                  <a:lnTo>
                    <a:pt x="5303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1266" b="-91266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42875"/>
              <a:ext cx="5303520" cy="8743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l">
                <a:lnSpc>
                  <a:spcPts val="4320"/>
                </a:lnSpc>
                <a:spcBef>
                  <a:spcPct val="0"/>
                </a:spcBef>
              </a:pPr>
              <a:r>
                <a:rPr lang="en-US" sz="2400" u="none" strike="noStrike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Recommendation appears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115800" y="6125296"/>
            <a:ext cx="5562600" cy="2904403"/>
            <a:chOff x="-762000" y="-142876"/>
            <a:chExt cx="7071360" cy="387253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309360" cy="2926080"/>
            </a:xfrm>
            <a:custGeom>
              <a:avLst/>
              <a:gdLst/>
              <a:ahLst/>
              <a:cxnLst/>
              <a:rect l="l" t="t" r="r" b="b"/>
              <a:pathLst>
                <a:path w="6309360" h="2926080">
                  <a:moveTo>
                    <a:pt x="0" y="0"/>
                  </a:moveTo>
                  <a:lnTo>
                    <a:pt x="6309360" y="0"/>
                  </a:lnTo>
                  <a:lnTo>
                    <a:pt x="63093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503" r="-950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-762000" y="-142876"/>
              <a:ext cx="7071360" cy="3872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4320"/>
                </a:lnSpc>
                <a:spcBef>
                  <a:spcPct val="0"/>
                </a:spcBef>
              </a:pPr>
              <a:r>
                <a:rPr lang="en-KE" sz="2400" dirty="0" err="1">
                  <a:solidFill>
                    <a:srgbClr val="FFFFFF"/>
                  </a:solidFill>
                  <a:latin typeface="Lora"/>
                </a:rPr>
                <a:t>EVSwapp</a:t>
              </a:r>
              <a:r>
                <a:rPr lang="en-KE" sz="2400" dirty="0">
                  <a:solidFill>
                    <a:srgbClr val="FFFFFF"/>
                  </a:solidFill>
                  <a:latin typeface="Lora"/>
                </a:rPr>
                <a:t> combines a rule-based triage engine (distance, charge level, station reliability, wait time) with an AI Copilot that explains recommendations in plain language</a:t>
              </a:r>
              <a:endParaRPr lang="en-US" sz="2400" dirty="0">
                <a:solidFill>
                  <a:srgbClr val="FFFFFF"/>
                </a:solidFill>
                <a:latin typeface="Lora"/>
                <a:sym typeface="Lora"/>
              </a:endParaRPr>
            </a:p>
          </p:txBody>
        </p:sp>
      </p:grpSp>
      <p:pic>
        <p:nvPicPr>
          <p:cNvPr id="40" name="Picture 4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4519"/>
          <a:stretch>
            <a:fillRect/>
          </a:stretch>
        </p:blipFill>
        <p:spPr>
          <a:xfrm>
            <a:off x="6905022" y="127452"/>
            <a:ext cx="4477957" cy="9894936"/>
          </a:xfrm>
          <a:prstGeom prst="rect">
            <a:avLst/>
          </a:prstGeom>
        </p:spPr>
      </p:pic>
      <p:grpSp>
        <p:nvGrpSpPr>
          <p:cNvPr id="41" name="Group 41"/>
          <p:cNvGrpSpPr/>
          <p:nvPr/>
        </p:nvGrpSpPr>
        <p:grpSpPr>
          <a:xfrm>
            <a:off x="12704049" y="3253611"/>
            <a:ext cx="493776" cy="493776"/>
            <a:chOff x="0" y="0"/>
            <a:chExt cx="658368" cy="65836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58368" cy="658368"/>
            </a:xfrm>
            <a:custGeom>
              <a:avLst/>
              <a:gdLst/>
              <a:ahLst/>
              <a:cxn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58368" cy="696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409EFE9-8462-E8DF-69BA-A96AE479083C}"/>
              </a:ext>
            </a:extLst>
          </p:cNvPr>
          <p:cNvSpPr txBox="1"/>
          <p:nvPr/>
        </p:nvSpPr>
        <p:spPr>
          <a:xfrm>
            <a:off x="799649" y="6785188"/>
            <a:ext cx="9144000" cy="524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 dirty="0">
                <a:solidFill>
                  <a:srgbClr val="FFA53D"/>
                </a:solidFill>
                <a:latin typeface="Space Mono Bold"/>
                <a:ea typeface="Space Mono Bold"/>
                <a:cs typeface="Space Mono Bold"/>
                <a:sym typeface="Space Mono Bold"/>
              </a:rPr>
              <a:t>Tap image to play Video &gt;&gt;&gt;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17220"/>
            <a:ext cx="15773400" cy="960120"/>
            <a:chOff x="0" y="0"/>
            <a:chExt cx="210312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 dirty="0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Geospatial Demand Layer - Kepler.gl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247120" y="2194560"/>
            <a:ext cx="7076739" cy="3240439"/>
            <a:chOff x="0" y="0"/>
            <a:chExt cx="11440992" cy="43205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9600" cy="786858"/>
            </a:xfrm>
            <a:custGeom>
              <a:avLst/>
              <a:gdLst/>
              <a:ahLst/>
              <a:cxnLst/>
              <a:rect l="l" t="t" r="r" b="b"/>
              <a:pathLst>
                <a:path w="8229600" h="786858">
                  <a:moveTo>
                    <a:pt x="0" y="0"/>
                  </a:moveTo>
                  <a:lnTo>
                    <a:pt x="8229600" y="0"/>
                  </a:lnTo>
                  <a:lnTo>
                    <a:pt x="8229600" y="786858"/>
                  </a:lnTo>
                  <a:lnTo>
                    <a:pt x="0" y="7868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306" b="-15027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11392" y="3543257"/>
              <a:ext cx="8229600" cy="777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 dirty="0">
                  <a:solidFill>
                    <a:srgbClr val="FFA53D"/>
                  </a:solidFill>
                  <a:latin typeface="Space Mono Bold"/>
                  <a:ea typeface="Space Mono Bold"/>
                  <a:cs typeface="Space Mono Bold"/>
                  <a:sym typeface="Space Mono Bold"/>
                </a:rPr>
                <a:t>&lt;&lt;&lt; Tap to play   simulation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27442" y="7619896"/>
            <a:ext cx="16459200" cy="2791301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lvl="0" indent="0" algn="ctr">
              <a:lnSpc>
                <a:spcPts val="4320"/>
              </a:lnSpc>
              <a:spcBef>
                <a:spcPct val="0"/>
              </a:spcBef>
            </a:pPr>
            <a:r>
              <a:rPr lang="en-US" sz="2400" u="none" strike="noStrike" dirty="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This visualization represents the demand-hotspot intelligence behind the business model — where charging demand is highest relative to existing coverage across Nairobi.</a:t>
            </a:r>
          </a:p>
        </p:txBody>
      </p:sp>
      <p:pic>
        <p:nvPicPr>
          <p:cNvPr id="17" name="EvSwapp">
            <a:hlinkClick r:id="" action="ppaction://media"/>
            <a:extLst>
              <a:ext uri="{FF2B5EF4-FFF2-40B4-BE49-F238E27FC236}">
                <a16:creationId xmlns:a16="http://schemas.microsoft.com/office/drawing/2014/main" id="{81622C43-30F6-4A76-054E-4298D1CEA13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1561" y="1605915"/>
            <a:ext cx="11978640" cy="6737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817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17220"/>
            <a:ext cx="15773400" cy="960120"/>
            <a:chOff x="0" y="0"/>
            <a:chExt cx="210312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The Triage Engine Works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3435" y="2116455"/>
            <a:ext cx="10443210" cy="6191250"/>
            <a:chOff x="0" y="0"/>
            <a:chExt cx="13924280" cy="825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24280" cy="8255000"/>
            </a:xfrm>
            <a:custGeom>
              <a:avLst/>
              <a:gdLst/>
              <a:ahLst/>
              <a:cxnLst/>
              <a:rect l="l" t="t" r="r" b="b"/>
              <a:pathLst>
                <a:path w="13924280" h="8255000">
                  <a:moveTo>
                    <a:pt x="0" y="183388"/>
                  </a:moveTo>
                  <a:cubicBezTo>
                    <a:pt x="0" y="82169"/>
                    <a:pt x="82169" y="0"/>
                    <a:pt x="183388" y="0"/>
                  </a:cubicBezTo>
                  <a:lnTo>
                    <a:pt x="13740892" y="0"/>
                  </a:lnTo>
                  <a:cubicBezTo>
                    <a:pt x="13842237" y="0"/>
                    <a:pt x="13924280" y="82169"/>
                    <a:pt x="13924280" y="183388"/>
                  </a:cubicBezTo>
                  <a:lnTo>
                    <a:pt x="13924280" y="8071612"/>
                  </a:lnTo>
                  <a:cubicBezTo>
                    <a:pt x="13924280" y="8172958"/>
                    <a:pt x="13842110" y="8255000"/>
                    <a:pt x="13740892" y="8255000"/>
                  </a:cubicBezTo>
                  <a:lnTo>
                    <a:pt x="183388" y="8255000"/>
                  </a:lnTo>
                  <a:cubicBezTo>
                    <a:pt x="82169" y="8255000"/>
                    <a:pt x="0" y="8172831"/>
                    <a:pt x="0" y="8071612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2B333D"/>
              </a:solidFill>
              <a:prstDash val="solid"/>
              <a:miter/>
            </a:ln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07008" y="2342007"/>
            <a:ext cx="9656064" cy="5480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remainingKm = routeDistance - traveled;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projectedSoC = soc -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(remainingKm * consumptionRate / capacity) * 100;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F5F7F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if (projectedSoC &lt; SAFE_THRESHOLD) {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const best = stations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  .filter(s =&gt; distanceAhead(s) &lt;= 800)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  .sort(byScore) // reliability, wait time, detour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  [0];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F5F7F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triggerRecommendation(best);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727180" y="2510028"/>
            <a:ext cx="123444" cy="123444"/>
            <a:chOff x="0" y="0"/>
            <a:chExt cx="164592" cy="1645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070080" y="2147697"/>
            <a:ext cx="534924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Pure rule-based logic — no external calls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727180" y="3854196"/>
            <a:ext cx="123444" cy="123444"/>
            <a:chOff x="0" y="0"/>
            <a:chExt cx="164592" cy="1645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070080" y="3491865"/>
            <a:ext cx="534924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Recalculates every ~250m of simulated travel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727180" y="5198364"/>
            <a:ext cx="123444" cy="123444"/>
            <a:chOff x="0" y="0"/>
            <a:chExt cx="164592" cy="164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070080" y="4836033"/>
            <a:ext cx="534924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Safety threshold: 20% projected charge on arrival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727180" y="6542532"/>
            <a:ext cx="123444" cy="123444"/>
            <a:chOff x="0" y="0"/>
            <a:chExt cx="164592" cy="164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4592" cy="164592"/>
            </a:xfrm>
            <a:custGeom>
              <a:avLst/>
              <a:gdLst/>
              <a:ahLst/>
              <a:cxnLst/>
              <a:rect l="l" t="t" r="r" b="b"/>
              <a:pathLst>
                <a:path w="164592" h="164592">
                  <a:moveTo>
                    <a:pt x="0" y="82296"/>
                  </a:moveTo>
                  <a:cubicBezTo>
                    <a:pt x="0" y="36830"/>
                    <a:pt x="36830" y="0"/>
                    <a:pt x="82296" y="0"/>
                  </a:cubicBezTo>
                  <a:cubicBezTo>
                    <a:pt x="127762" y="0"/>
                    <a:pt x="164592" y="36830"/>
                    <a:pt x="164592" y="82296"/>
                  </a:cubicBezTo>
                  <a:cubicBezTo>
                    <a:pt x="164592" y="127762"/>
                    <a:pt x="127762" y="164592"/>
                    <a:pt x="82296" y="164592"/>
                  </a:cubicBezTo>
                  <a:cubicBezTo>
                    <a:pt x="36830" y="164592"/>
                    <a:pt x="0" y="127762"/>
                    <a:pt x="0" y="82296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070080" y="6180201"/>
            <a:ext cx="534924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Ranks candidates by reliability, wait time, detour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17220"/>
            <a:ext cx="15773400" cy="960120"/>
            <a:chOff x="0" y="0"/>
            <a:chExt cx="210312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AI Advisor — LLM-Phrased Recommendations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3435" y="2185035"/>
            <a:ext cx="8111490" cy="4271010"/>
            <a:chOff x="0" y="0"/>
            <a:chExt cx="10815320" cy="56946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15320" cy="5694680"/>
            </a:xfrm>
            <a:custGeom>
              <a:avLst/>
              <a:gdLst/>
              <a:ahLst/>
              <a:cxnLst/>
              <a:rect l="l" t="t" r="r" b="b"/>
              <a:pathLst>
                <a:path w="10815320" h="569468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631551" y="0"/>
                  </a:lnTo>
                  <a:cubicBezTo>
                    <a:pt x="10733024" y="0"/>
                    <a:pt x="10815320" y="82296"/>
                    <a:pt x="10815320" y="183769"/>
                  </a:cubicBezTo>
                  <a:lnTo>
                    <a:pt x="10815320" y="5510911"/>
                  </a:lnTo>
                  <a:cubicBezTo>
                    <a:pt x="10815320" y="5612384"/>
                    <a:pt x="10733024" y="5694680"/>
                    <a:pt x="10631551" y="5694680"/>
                  </a:cubicBezTo>
                  <a:lnTo>
                    <a:pt x="183769" y="5694680"/>
                  </a:lnTo>
                  <a:cubicBezTo>
                    <a:pt x="82296" y="5694680"/>
                    <a:pt x="0" y="5612384"/>
                    <a:pt x="0" y="5510911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2B333D"/>
              </a:solidFill>
              <a:prstDash val="solid"/>
              <a:miter/>
            </a:ln>
          </p:spPr>
          <p:txBody>
            <a:bodyPr/>
            <a:lstStyle/>
            <a:p>
              <a:endParaRPr lang="en-KE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07008" y="2410587"/>
            <a:ext cx="7324344" cy="365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const advice = await callLLM({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station: best,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soc: projectedSoC,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  location: currentPosition,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F5F7FA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</a:p>
          <a:p>
            <a:pPr algn="l">
              <a:lnSpc>
                <a:spcPts val="3600"/>
              </a:lnSpc>
            </a:pPr>
            <a:endParaRPr lang="en-US" sz="2400">
              <a:solidFill>
                <a:srgbClr val="F5F7F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// LLM only writes the sentence —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// station selection stays rule-based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2960" y="6720840"/>
            <a:ext cx="8092440" cy="1234440"/>
            <a:chOff x="0" y="0"/>
            <a:chExt cx="10789920" cy="16459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89920" cy="1645920"/>
            </a:xfrm>
            <a:custGeom>
              <a:avLst/>
              <a:gdLst/>
              <a:ahLst/>
              <a:cxnLst/>
              <a:rect l="l" t="t" r="r" b="b"/>
              <a:pathLst>
                <a:path w="10789920" h="1645920">
                  <a:moveTo>
                    <a:pt x="0" y="0"/>
                  </a:moveTo>
                  <a:lnTo>
                    <a:pt x="10789920" y="0"/>
                  </a:lnTo>
                  <a:lnTo>
                    <a:pt x="10789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735" b="-77735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10789920" cy="1788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9"/>
                </a:lnSpc>
              </a:pPr>
              <a:r>
                <a:rPr lang="en-US" sz="2799" i="1">
                  <a:solidFill>
                    <a:srgbClr val="8B949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Called only when the triage engine actually fires to keep usage minimal.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49752" y="2591752"/>
            <a:ext cx="7983855" cy="3320415"/>
            <a:chOff x="0" y="0"/>
            <a:chExt cx="10645140" cy="44272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45140" cy="4427220"/>
            </a:xfrm>
            <a:custGeom>
              <a:avLst/>
              <a:gdLst/>
              <a:ahLst/>
              <a:cxnLst/>
              <a:rect l="l" t="t" r="r" b="b"/>
              <a:pathLst>
                <a:path w="10645140" h="4427220">
                  <a:moveTo>
                    <a:pt x="0" y="221361"/>
                  </a:moveTo>
                  <a:cubicBezTo>
                    <a:pt x="0" y="99060"/>
                    <a:pt x="99060" y="0"/>
                    <a:pt x="221361" y="0"/>
                  </a:cubicBezTo>
                  <a:lnTo>
                    <a:pt x="10423779" y="0"/>
                  </a:lnTo>
                  <a:cubicBezTo>
                    <a:pt x="10546080" y="0"/>
                    <a:pt x="10645140" y="99060"/>
                    <a:pt x="10645140" y="221361"/>
                  </a:cubicBezTo>
                  <a:lnTo>
                    <a:pt x="10645140" y="4205859"/>
                  </a:lnTo>
                  <a:cubicBezTo>
                    <a:pt x="10645140" y="4328160"/>
                    <a:pt x="10546080" y="4427220"/>
                    <a:pt x="10423779" y="4427220"/>
                  </a:cubicBezTo>
                  <a:lnTo>
                    <a:pt x="221361" y="4427220"/>
                  </a:lnTo>
                  <a:cubicBezTo>
                    <a:pt x="99060" y="4427220"/>
                    <a:pt x="0" y="4328160"/>
                    <a:pt x="0" y="4205859"/>
                  </a:cubicBezTo>
                  <a:close/>
                </a:path>
              </a:pathLst>
            </a:custGeom>
            <a:solidFill>
              <a:srgbClr val="1C232C"/>
            </a:solidFill>
            <a:ln w="28575" cap="sq">
              <a:solidFill>
                <a:srgbClr val="FFA53D"/>
              </a:solidFill>
              <a:prstDash val="solid"/>
              <a:miter/>
            </a:ln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75520" y="2990088"/>
            <a:ext cx="2125980" cy="493776"/>
            <a:chOff x="0" y="0"/>
            <a:chExt cx="2834640" cy="65836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34640" cy="658368"/>
            </a:xfrm>
            <a:custGeom>
              <a:avLst/>
              <a:gdLst/>
              <a:ahLst/>
              <a:cxnLst/>
              <a:rect l="l" t="t" r="r" b="b"/>
              <a:pathLst>
                <a:path w="283464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05456" y="0"/>
                  </a:lnTo>
                  <a:cubicBezTo>
                    <a:pt x="2687320" y="0"/>
                    <a:pt x="2834640" y="147320"/>
                    <a:pt x="2834640" y="329184"/>
                  </a:cubicBezTo>
                  <a:cubicBezTo>
                    <a:pt x="2834640" y="511048"/>
                    <a:pt x="2687320" y="658368"/>
                    <a:pt x="250545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A53D"/>
            </a:solidFill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75520" y="2990088"/>
            <a:ext cx="2125980" cy="493776"/>
            <a:chOff x="0" y="0"/>
            <a:chExt cx="2834640" cy="6583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34640" cy="658368"/>
            </a:xfrm>
            <a:custGeom>
              <a:avLst/>
              <a:gdLst/>
              <a:ahLst/>
              <a:cxnLst/>
              <a:rect l="l" t="t" r="r" b="b"/>
              <a:pathLst>
                <a:path w="2834640" h="658368">
                  <a:moveTo>
                    <a:pt x="0" y="0"/>
                  </a:moveTo>
                  <a:lnTo>
                    <a:pt x="2834640" y="0"/>
                  </a:lnTo>
                  <a:lnTo>
                    <a:pt x="2834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893" b="-3389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834640" cy="6964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0D111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AI-ADVISED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75520" y="3771900"/>
            <a:ext cx="7132320" cy="1851660"/>
            <a:chOff x="0" y="0"/>
            <a:chExt cx="9509760" cy="24688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9760" cy="2468880"/>
            </a:xfrm>
            <a:custGeom>
              <a:avLst/>
              <a:gdLst/>
              <a:ahLst/>
              <a:cxnLst/>
              <a:rect l="l" t="t" r="r" b="b"/>
              <a:pathLst>
                <a:path w="9509760" h="2468880">
                  <a:moveTo>
                    <a:pt x="0" y="0"/>
                  </a:moveTo>
                  <a:lnTo>
                    <a:pt x="9509760" y="0"/>
                  </a:lnTo>
                  <a:lnTo>
                    <a:pt x="95097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053" b="-25053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61925"/>
              <a:ext cx="9509760" cy="2630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67"/>
                </a:lnSpc>
              </a:pPr>
              <a:r>
                <a:rPr lang="en-US" sz="2799" i="1">
                  <a:solidFill>
                    <a:srgbClr val="F5F7F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“Charge drops to ~14% before Karen. Swap in 650m: Kilimani Fast-Charge — 96% reliability, no wait.”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17220"/>
            <a:ext cx="15773400" cy="960120"/>
            <a:chOff x="0" y="0"/>
            <a:chExt cx="210312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Architecture At A Glance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698362" y="1097280"/>
            <a:ext cx="14891275" cy="7897279"/>
          </a:xfrm>
          <a:custGeom>
            <a:avLst/>
            <a:gdLst/>
            <a:ahLst/>
            <a:cxnLst/>
            <a:rect l="l" t="t" r="r" b="b"/>
            <a:pathLst>
              <a:path w="14891275" h="7897279">
                <a:moveTo>
                  <a:pt x="0" y="0"/>
                </a:moveTo>
                <a:lnTo>
                  <a:pt x="14891276" y="0"/>
                </a:lnTo>
                <a:lnTo>
                  <a:pt x="14891276" y="7897279"/>
                </a:lnTo>
                <a:lnTo>
                  <a:pt x="0" y="789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17220"/>
            <a:ext cx="15773400" cy="960120"/>
            <a:chOff x="0" y="0"/>
            <a:chExt cx="21031200" cy="12801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1280160"/>
            </a:xfrm>
            <a:custGeom>
              <a:avLst/>
              <a:gdLst/>
              <a:ahLst/>
              <a:cxnLst/>
              <a:rect l="l" t="t" r="r" b="b"/>
              <a:pathLst>
                <a:path w="21031200" h="128016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0111" b="-270111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03120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4500" b="1">
                  <a:solidFill>
                    <a:srgbClr val="F5F7F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Try It Yourself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3435" y="2459355"/>
            <a:ext cx="7014210" cy="2076450"/>
            <a:chOff x="0" y="0"/>
            <a:chExt cx="9352280" cy="2768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52280" cy="2768600"/>
            </a:xfrm>
            <a:custGeom>
              <a:avLst/>
              <a:gdLst/>
              <a:ahLst/>
              <a:cxnLst/>
              <a:rect l="l" t="t" r="r" b="b"/>
              <a:pathLst>
                <a:path w="935228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9130792" y="0"/>
                  </a:lnTo>
                  <a:cubicBezTo>
                    <a:pt x="9253093" y="0"/>
                    <a:pt x="9352280" y="99187"/>
                    <a:pt x="9352280" y="221488"/>
                  </a:cubicBezTo>
                  <a:lnTo>
                    <a:pt x="9352280" y="2547112"/>
                  </a:lnTo>
                  <a:cubicBezTo>
                    <a:pt x="9352280" y="2669413"/>
                    <a:pt x="9253093" y="2768600"/>
                    <a:pt x="913079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2B333D"/>
              </a:solidFill>
              <a:prstDash val="solid"/>
              <a:miter/>
            </a:ln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34440" y="2880360"/>
            <a:ext cx="6172200" cy="514350"/>
            <a:chOff x="0" y="0"/>
            <a:chExt cx="8229600" cy="685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29600" cy="685800"/>
            </a:xfrm>
            <a:custGeom>
              <a:avLst/>
              <a:gdLst/>
              <a:ahLst/>
              <a:cxnLst/>
              <a:rect l="l" t="t" r="r" b="b"/>
              <a:pathLst>
                <a:path w="8229600" h="685800">
                  <a:moveTo>
                    <a:pt x="0" y="0"/>
                  </a:moveTo>
                  <a:lnTo>
                    <a:pt x="8229600" y="0"/>
                  </a:lnTo>
                  <a:lnTo>
                    <a:pt x="82296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7153" b="-180487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8229600" cy="685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199">
                  <a:solidFill>
                    <a:srgbClr val="8B949E"/>
                  </a:solidFill>
                  <a:latin typeface="Lora"/>
                  <a:ea typeface="Lora"/>
                  <a:cs typeface="Lora"/>
                  <a:sym typeface="Lora"/>
                </a:rPr>
                <a:t>LIVE DEMO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34440" y="3401568"/>
            <a:ext cx="6172200" cy="822960"/>
            <a:chOff x="0" y="0"/>
            <a:chExt cx="8229600" cy="10972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29600" cy="1097280"/>
            </a:xfrm>
            <a:custGeom>
              <a:avLst/>
              <a:gdLst/>
              <a:ahLst/>
              <a:cxnLst/>
              <a:rect l="l" t="t" r="r" b="b"/>
              <a:pathLst>
                <a:path w="8229600" h="1097280">
                  <a:moveTo>
                    <a:pt x="0" y="0"/>
                  </a:moveTo>
                  <a:lnTo>
                    <a:pt x="8229600" y="0"/>
                  </a:lnTo>
                  <a:lnTo>
                    <a:pt x="822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822960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A53D"/>
                  </a:solidFill>
                  <a:latin typeface="Lora Bold"/>
                  <a:ea typeface="Lora Bold"/>
                  <a:cs typeface="Lora Bold"/>
                  <a:sym typeface="Lora Bold"/>
                </a:rPr>
                <a:t>evswapp.lovable.app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3435" y="4791075"/>
            <a:ext cx="7014210" cy="2076450"/>
            <a:chOff x="0" y="0"/>
            <a:chExt cx="9352280" cy="276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352280" cy="2768600"/>
            </a:xfrm>
            <a:custGeom>
              <a:avLst/>
              <a:gdLst/>
              <a:ahLst/>
              <a:cxnLst/>
              <a:rect l="l" t="t" r="r" b="b"/>
              <a:pathLst>
                <a:path w="9352280" h="276860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9130792" y="0"/>
                  </a:lnTo>
                  <a:cubicBezTo>
                    <a:pt x="9253093" y="0"/>
                    <a:pt x="9352280" y="99187"/>
                    <a:pt x="9352280" y="221488"/>
                  </a:cubicBezTo>
                  <a:lnTo>
                    <a:pt x="9352280" y="2547112"/>
                  </a:lnTo>
                  <a:cubicBezTo>
                    <a:pt x="9352280" y="2669413"/>
                    <a:pt x="9253093" y="2768600"/>
                    <a:pt x="9130792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2B333D"/>
              </a:solidFill>
              <a:prstDash val="solid"/>
              <a:miter/>
            </a:ln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34440" y="5212080"/>
            <a:ext cx="6172200" cy="514350"/>
            <a:chOff x="0" y="0"/>
            <a:chExt cx="8229600" cy="685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229600" cy="685800"/>
            </a:xfrm>
            <a:custGeom>
              <a:avLst/>
              <a:gdLst/>
              <a:ahLst/>
              <a:cxnLst/>
              <a:rect l="l" t="t" r="r" b="b"/>
              <a:pathLst>
                <a:path w="8229600" h="685800">
                  <a:moveTo>
                    <a:pt x="0" y="0"/>
                  </a:moveTo>
                  <a:lnTo>
                    <a:pt x="8229600" y="0"/>
                  </a:lnTo>
                  <a:lnTo>
                    <a:pt x="82296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7153" b="-180487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8229600" cy="685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spc="199">
                  <a:solidFill>
                    <a:srgbClr val="8B949E"/>
                  </a:solidFill>
                  <a:latin typeface="Lora"/>
                  <a:ea typeface="Lora"/>
                  <a:cs typeface="Lora"/>
                  <a:sym typeface="Lora"/>
                </a:rPr>
                <a:t>CODE REPOSITORY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4440" y="5733288"/>
            <a:ext cx="6172200" cy="822960"/>
            <a:chOff x="0" y="0"/>
            <a:chExt cx="8229600" cy="10972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29600" cy="1097280"/>
            </a:xfrm>
            <a:custGeom>
              <a:avLst/>
              <a:gdLst/>
              <a:ahLst/>
              <a:cxnLst/>
              <a:rect l="l" t="t" r="r" b="b"/>
              <a:pathLst>
                <a:path w="8229600" h="1097280">
                  <a:moveTo>
                    <a:pt x="0" y="0"/>
                  </a:moveTo>
                  <a:lnTo>
                    <a:pt x="8229600" y="0"/>
                  </a:lnTo>
                  <a:lnTo>
                    <a:pt x="8229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8229600" cy="10972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A53D"/>
                  </a:solidFill>
                  <a:latin typeface="Lora Bold"/>
                  <a:ea typeface="Lora Bold"/>
                  <a:cs typeface="Lora Bold"/>
                  <a:sym typeface="Lora Bold"/>
                </a:rPr>
                <a:t> </a:t>
              </a:r>
              <a:r>
                <a:rPr lang="en-US" sz="2799" b="1" u="sng">
                  <a:solidFill>
                    <a:srgbClr val="FFA53D"/>
                  </a:solidFill>
                  <a:latin typeface="Lora Bold"/>
                  <a:ea typeface="Lora Bold"/>
                  <a:cs typeface="Lora Bold"/>
                  <a:sym typeface="Lora Bold"/>
                  <a:hlinkClick r:id="rId3" tooltip="https://github.com/PriscahC/EVSwapp"/>
                </a:rPr>
                <a:t>github.com/PriscahC/EVSwapp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57235" y="2459355"/>
            <a:ext cx="4133850" cy="4408170"/>
            <a:chOff x="0" y="0"/>
            <a:chExt cx="5511800" cy="58775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11800" cy="5877560"/>
            </a:xfrm>
            <a:custGeom>
              <a:avLst/>
              <a:gdLst/>
              <a:ahLst/>
              <a:cxnLst/>
              <a:rect l="l" t="t" r="r" b="b"/>
              <a:pathLst>
                <a:path w="5511800" h="5877560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5291328" y="0"/>
                  </a:lnTo>
                  <a:cubicBezTo>
                    <a:pt x="5413121" y="0"/>
                    <a:pt x="5511800" y="98679"/>
                    <a:pt x="5511800" y="220472"/>
                  </a:cubicBezTo>
                  <a:lnTo>
                    <a:pt x="5511800" y="5657088"/>
                  </a:lnTo>
                  <a:cubicBezTo>
                    <a:pt x="5511800" y="5778881"/>
                    <a:pt x="5413121" y="5877560"/>
                    <a:pt x="5291328" y="5877560"/>
                  </a:cubicBezTo>
                  <a:lnTo>
                    <a:pt x="220472" y="5877560"/>
                  </a:lnTo>
                  <a:cubicBezTo>
                    <a:pt x="98679" y="5877560"/>
                    <a:pt x="0" y="5778881"/>
                    <a:pt x="0" y="5657088"/>
                  </a:cubicBezTo>
                  <a:close/>
                </a:path>
              </a:pathLst>
            </a:custGeom>
            <a:solidFill>
              <a:srgbClr val="161B22"/>
            </a:solidFill>
            <a:ln w="19050" cap="sq">
              <a:solidFill>
                <a:srgbClr val="2B333D"/>
              </a:solidFill>
              <a:prstDash val="solid"/>
              <a:miter/>
            </a:ln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655493" y="3483292"/>
            <a:ext cx="1537335" cy="1537335"/>
            <a:chOff x="0" y="0"/>
            <a:chExt cx="2049780" cy="20497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49780" cy="2049780"/>
            </a:xfrm>
            <a:custGeom>
              <a:avLst/>
              <a:gdLst/>
              <a:ahLst/>
              <a:cxnLst/>
              <a:rect l="l" t="t" r="r" b="b"/>
              <a:pathLst>
                <a:path w="2049780" h="204978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1938020" y="0"/>
                  </a:lnTo>
                  <a:cubicBezTo>
                    <a:pt x="1999742" y="0"/>
                    <a:pt x="2049780" y="50038"/>
                    <a:pt x="2049780" y="111760"/>
                  </a:cubicBezTo>
                  <a:lnTo>
                    <a:pt x="2049780" y="1938020"/>
                  </a:lnTo>
                  <a:cubicBezTo>
                    <a:pt x="2049780" y="1999742"/>
                    <a:pt x="1999742" y="2049780"/>
                    <a:pt x="1938020" y="2049780"/>
                  </a:cubicBezTo>
                  <a:lnTo>
                    <a:pt x="111760" y="2049780"/>
                  </a:lnTo>
                  <a:cubicBezTo>
                    <a:pt x="50038" y="2049780"/>
                    <a:pt x="0" y="1999742"/>
                    <a:pt x="0" y="1938020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  <a:ln w="28575" cap="sq">
              <a:solidFill>
                <a:srgbClr val="FFA53D"/>
              </a:solidFill>
              <a:prstDash val="dash"/>
              <a:miter/>
            </a:ln>
          </p:spPr>
          <p:txBody>
            <a:bodyPr/>
            <a:lstStyle/>
            <a:p>
              <a:endParaRPr lang="en-KE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366760" y="5417820"/>
            <a:ext cx="4114800" cy="548640"/>
            <a:chOff x="0" y="0"/>
            <a:chExt cx="548640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86400" cy="731520"/>
            </a:xfrm>
            <a:custGeom>
              <a:avLst/>
              <a:gdLst/>
              <a:ahLst/>
              <a:cxnLst/>
              <a:rect l="l" t="t" r="r" b="b"/>
              <a:pathLst>
                <a:path w="5486400" h="73152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137" b="-96137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4864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i="1">
                  <a:solidFill>
                    <a:srgbClr val="8B949E"/>
                  </a:solidFill>
                  <a:latin typeface="Lora Italics"/>
                  <a:ea typeface="Lora Italics"/>
                  <a:cs typeface="Lora Italics"/>
                  <a:sym typeface="Lora Italics"/>
                </a:rPr>
                <a:t>Drop QR code here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2960" y="9052560"/>
            <a:ext cx="10972800" cy="548640"/>
            <a:chOff x="0" y="0"/>
            <a:chExt cx="14630400" cy="7315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KE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14630400" cy="7315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8B949E"/>
                  </a:solidFill>
                  <a:latin typeface="Lora"/>
                  <a:ea typeface="Lora"/>
                  <a:cs typeface="Lora"/>
                  <a:sym typeface="Lora"/>
                </a:rPr>
                <a:t>EVSwapp — AI × City Climate Action Hackathon 2026</a:t>
              </a:r>
            </a:p>
          </p:txBody>
        </p:sp>
      </p:grpSp>
      <p:pic>
        <p:nvPicPr>
          <p:cNvPr id="31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573" y="2007693"/>
            <a:ext cx="5419946" cy="54199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366</Words>
  <Application>Microsoft Office PowerPoint</Application>
  <PresentationFormat>Custom</PresentationFormat>
  <Paragraphs>59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Lora</vt:lpstr>
      <vt:lpstr>Calibri (MS) Bold</vt:lpstr>
      <vt:lpstr>Lora Bold</vt:lpstr>
      <vt:lpstr>Cambria Bold</vt:lpstr>
      <vt:lpstr>Space Mono Bold</vt:lpstr>
      <vt:lpstr>Calibri (MS) Italics</vt:lpstr>
      <vt:lpstr>Lora Italics</vt:lpstr>
      <vt:lpstr>Calibri</vt:lpstr>
      <vt:lpstr>Raleway Bold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EVSWAPP</dc:title>
  <cp:lastModifiedBy>Dan Kennedy</cp:lastModifiedBy>
  <cp:revision>2</cp:revision>
  <dcterms:created xsi:type="dcterms:W3CDTF">2006-08-16T00:00:00Z</dcterms:created>
  <dcterms:modified xsi:type="dcterms:W3CDTF">2026-08-31T12:37:37Z</dcterms:modified>
  <dc:identifier>DAHT1v0LjeA</dc:identifier>
</cp:coreProperties>
</file>