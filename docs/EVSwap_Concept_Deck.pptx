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CITY CLIMATE ACTION HACKATHON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EVSwap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e-mobility siting for African cities — from a data pipeline that ranks Nairobi's charging deserts, to a driver app built on the same real station 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25400">
            <a:solidFill>
              <a:srgbClr val="3E92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72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Nairobi put its next charging station? We built a pipeline that answers this with data, not guesswork — and any city can run it.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Priority Theme  ·  Nairobi, Kenya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is being sited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commercial visibility, not by need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6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860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outpaces planning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6791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Nairobi's e-mobility sector (matatus, e-bikes, boda-bodas) is growing faster than infrastructure planning can track.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56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520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siting logic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91363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and swap stations are sited by private operators' commercial logic — retail forecourts, CBD visibility — not by where transport demand and population actually concentrate.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6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754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unified view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14807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citywide infrastructure map that no single city planning body currently holds.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Nairobi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“high-informality, high-growth” African city — the hard case, on purpose. If it works here, it generalizes.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(WorldPop 2020,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this project)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22860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4612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matatu routes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headway-based, no fixed timetable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4,284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matatu stops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22860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4108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865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hexagons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tessellating the city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Nairobi's matatu network runs on informal, driver-set headways rather than a published schedule — this project derives frequency directly from real GTFS trip data (Digital Matatus), not assumptions.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ALIGNMENT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– Shift – Improve, computed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infrastructure site in the analysis is weighted by this hierarchy — not cited on a slide, but built into the scoring formula.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3337560" cy="1828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priority_weight = 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Buses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832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priority. Moves the most passengers per charging asset — the core of “Improve.”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1488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2148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2468880"/>
            <a:ext cx="3337560" cy="182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2194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priority_weight = 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E-bikes / Motorcycles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3832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priority. Displaces short car/boda petrol trips — the core of “Shift.”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2148840"/>
            <a:ext cx="3337560" cy="35204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0" y="2148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E9C46A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0" y="2468880"/>
            <a:ext cx="3337560" cy="1828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01000" y="2194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priority_weight = 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Cars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38328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priority. Serves individual car trips — the mode ASI seeks to avoid.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3E92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301752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city data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(roads, population,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926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23160" y="29260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 w="12700">
            <a:solidFill>
              <a:srgbClr val="3E92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6312" y="301752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tessellation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926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29260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3E92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0832" y="301752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926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2200" y="29260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 w="12700">
            <a:solidFill>
              <a:srgbClr val="3E92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301752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Growth-adjusted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926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9260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3E92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9872" y="301752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siteable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738360" y="292608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921240" y="29260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3315C"/>
          </a:solidFill>
          <a:ln w="12700">
            <a:solidFill>
              <a:srgbClr val="3E92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94392" y="3017520"/>
            <a:ext cx="1545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app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above is a real, documented script in this repo (steps 01–15) — not a conceptual diagram.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 is open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201168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— Nairobi drivable road network (OSMnx)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491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724912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WorldPop 100m constrained gridded population, 2020, UN-adjusted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38144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3814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3438144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Matatus GTFS — 136 routes, 4,284 stops, 3 time-bands (AM peak / midday / PM peak)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51376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5137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Tessellation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4151376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resolution-8 — 865 hexagons, ~0.7 km² each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64608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646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infrastructure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4864608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29-site verified dataset — operator, type, coordinates, source URL for each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feasibility and replicability — no proprietary feed required, anywhere.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· 1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Multi-Criteria Need-Analysis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demand_score = 0.6 × pop_norm + 0.4 × transit_norm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existing_coverage = Σ priority_weight (point stations in hex)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need_score = demand_score × (1 − coverage_norm)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057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834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hexagons ranked by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e-mobility infrastructure need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auditable math — not a black box. This is a transparent, explainable multi-criteria decision model: a form of applied AI/decision-support, and that's a feature (auditable by city officials), not a limitation.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· 2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Growth-Forecasting &amp; Phased Rollout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Per-hexagon population growth (WorldPop 2015→2020 CAGR, extrapolated to the pilot window) combines current need with predicted growth into a 3-phase pilot plan.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4460" y="2697480"/>
            <a:ext cx="1645920" cy="1645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94460" y="2697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26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92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now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246888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06340" y="2697480"/>
            <a:ext cx="1645920" cy="16459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06340" y="2697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4526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4892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demand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0" y="2468880"/>
            <a:ext cx="3337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18220" y="2697480"/>
            <a:ext cx="1645920" cy="1645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18220" y="2697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526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892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ahead of growth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turns a static map into a decision tool a pilot budget can actually be built around.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· 3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Decision-Support Insights (LLM Layer)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recommended site's stats — population, transit frequency, need score, growth trend, priority tier — are passed to an LLM, which generates a plain-language justification in the app in real time.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ranked spreadsheet into something a non-technical planning committee can read and defend.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APP — not a mock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1600200"/>
            <a:ext cx="507492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12000"/>
              </a:srgbClr>
            </a:outerShdw>
          </a:effectLst>
        </p:spPr>
      </p:sp>
      <p:pic>
        <p:nvPicPr>
          <p:cNvPr id="8" name="Image 0" descr="assets/slide9_insight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737360"/>
            <a:ext cx="4800600" cy="4572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· 4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Itself Is AI-Replicable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6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860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Documented, sequential scripts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67919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— data pull, tessellation, scoring, phasing, export — is its own script, in order.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56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520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LLM coding assistants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91363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city's planning team can hand this exact sequence to an LLM coding assistant and reproduce the analysis for their own city — swapping in local OSM/GTFS/population data — without a specialist GIS team.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6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754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replicability ask, made concrete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14807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answers the brief's replicability requirement, not as an aspiration but as a working method.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Arguably the strongest, most honest AI claim in this deck.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Coverage Gap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top-10 highest-need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hexagons have ANY existing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charging/swap infra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865 hexagons have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existing coverage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physical 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operators' aggregate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 50+ citywide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infrastructure clusters around the CBD and the TotalEnergies retail network — a commercial siting pattern, not a needs-based one.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Caveat, stated plainly: “zero coverage” means “no verified station” — unmapped network_density rows are excluded from scoring by design, not overlooked.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Will Widen the Gap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hexagons with the highest current need are also, independently, among the fastest-growing (2015–2020 CAGR ~2.2–3.1%/year).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intervention, the gap compounds rather than closes.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SITE (hex 887a6e404bfffff)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331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+21,327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337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new residents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mid-2026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411480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4251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...on top of already being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need hexagon citywide.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urgency argument for funding a pilot now, not later.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·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Infrastructure Layer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29 catalogued sites, color-coded by ASI priority tier, with a live legend and need-score choropleth beneath.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12000"/>
              </a:srgbClr>
            </a:outerShdw>
          </a:effectLst>
        </p:spPr>
      </p:sp>
      <p:pic>
        <p:nvPicPr>
          <p:cNvPr id="6" name="Image 0" descr="assets/slide13_existing_inf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94560"/>
            <a:ext cx="10789920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·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Animated Tessellation &amp; Transit Patterns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Kepler.gl companion view: need-score choropleth beneath, transit-frequency pulses timed to AM peak / midday / PM peak — the transit operators' own scheduled headways, not simulated.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4343400"/>
          </a:xfrm>
          <a:prstGeom prst="roundRect">
            <a:avLst>
              <a:gd name="adj" fmla="val 1053"/>
            </a:avLst>
          </a:prstGeom>
          <a:solidFill>
            <a:srgbClr val="0B2545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12000"/>
              </a:srgbClr>
            </a:outerShdw>
          </a:effectLst>
        </p:spPr>
      </p:sp>
      <p:pic>
        <p:nvPicPr>
          <p:cNvPr id="6" name="Image 0" descr="assets/slide14_kep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286000"/>
            <a:ext cx="10789920" cy="4069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·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Sites + Live AI Insights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ranked sites, phased by need + growth. Click any site — the panel populates with a real, grounded LLM rationale, live.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32">
                <a:alpha val="12000"/>
              </a:srgbClr>
            </a:outerShdw>
          </a:effectLst>
        </p:spPr>
      </p:sp>
      <p:pic>
        <p:nvPicPr>
          <p:cNvPr id="6" name="Image 0" descr="assets/slide15_ai_insight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94560"/>
            <a:ext cx="10789920" cy="4160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built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219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 City County planning &amp; transport departments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9260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National/county e-mobility policy teams (Kenya's e-mobility policy is still forming)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764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7033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C40 / I4C member cities seeking a replicable siting methodology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537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4805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E-mobility operators — Roam, BasiGo, Ampersand, ARC Ride — for investment/expansion prioritization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3309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2578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finance &amp; impact investors evaluating e-mobility infrastructure deals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real operators by name here — as data subjects, not partners — grounds this in the actual Nairobi ecosystem.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FRAMING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of this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SITES (first 20 recommendations)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1,004,338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served today by the 20 recommended sites — growing to ~1.19M by mid-2026.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48463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297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463,908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reached by just the first 7 sites, Months 1–2.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331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CITYWIDE (all Phase 1 hexagons)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77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~4.14M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291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(≈90% of Nairobi's population) live in Phase 1 — “needed now” — hexagons.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4206240"/>
            <a:ext cx="48463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4389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around ASI outcomes: enabling mode-shift from private car/petrol boda to electric bus/e-bike in the highest-need corridors first — directly tied to C40's transport-emissions goals.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figures are per-hexagon residential population (WorldPop) — the service catchment of Phase 1 infrastructure, not a claim every resident personally uses it.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Replicability is the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149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2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603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9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4323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data source is open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79806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OSM, WorldPop, GTFS — no proprietary feed required, anywhere.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0149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2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9319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9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8039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Parameterized by city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16966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are parameterized by city name/boundary. Swapping “Nairobi” for another city's GTFS feed and boundary is the only required change.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1498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63500" dist="25400" dir="5400000">
              <a:srgbClr val="1A2332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303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9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51755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methodology + toolkit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54126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 methodology and toolkit, not a one-city dashboard — the answer to “how does this scale beyond Nairobi.”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ALIGNMENT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C40 / I4C's own framework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partners — AI x City Climate Action Hackathon 2026: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7568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Covenant of Mayors for Climate &amp; Energy (GCoM) — Innovate4Cities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Human-Inspired AI (CHIA), University of Cambridge — Knowledge Partner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Transitions Mission (UTM)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4728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C40 Cities — coalition partner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069848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callouts in this project: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81728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Avoid-Shift-Improve (C40) — operationalized as priority_weight in the scoring formula, not just cited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321808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257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— I4C's bonus-point priority theme — is this project's entire subject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961888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897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Transitions Mission / GCoM city networks — potential pilot-scaling partners for the replicable pipeline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 &amp; ASK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6-month path to proof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sites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1, highest need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20116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052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560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sites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1, continued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201168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560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sites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completion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00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funding and partnership to validate the top Phase-1 sites with on-ground siting surveys — turning 20 ranked recommendations into built infrastructure serving over a million Nairobi residents.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and detailed activities in the accompanying Pilot Plan document.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2026-08-30T12:57:14Z</dcterms:created>
  <dcterms:modified xsi:type="dcterms:W3CDTF">2026-08-30T12:57:14Z</dcterms:modified>
</cp:coreProperties>
</file>